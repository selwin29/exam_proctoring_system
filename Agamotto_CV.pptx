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Futura" panose="020B0604020202020204" charset="0"/>
      <p:regular r:id="rId16"/>
    </p:embeddedFont>
    <p:embeddedFont>
      <p:font typeface="Futura Bold" panose="020B0604020202020204" charset="0"/>
      <p:regular r:id="rId17"/>
    </p:embeddedFont>
    <p:embeddedFont>
      <p:font typeface="Montserrat" panose="00000500000000000000" pitchFamily="2" charset="0"/>
      <p:regular r:id="rId18"/>
    </p:embeddedFont>
    <p:embeddedFont>
      <p:font typeface="Montserrat Bold" panose="000008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sv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0946" y="1849135"/>
            <a:ext cx="18086107" cy="405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91"/>
              </a:lnSpc>
            </a:pPr>
            <a:r>
              <a:rPr lang="en-US" sz="24724" b="1" spc="3510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Agamotto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63491" y="2628107"/>
            <a:ext cx="9161018" cy="2999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72"/>
              </a:lnSpc>
            </a:pPr>
            <a:r>
              <a:rPr lang="en-US" sz="15765" b="1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Agamotto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45517" y="6478386"/>
            <a:ext cx="7996965" cy="135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8"/>
              </a:lnSpc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INTELLIGENT PROCTORING SYSTEM:</a:t>
            </a:r>
          </a:p>
          <a:p>
            <a:pPr marL="0" lvl="0" indent="0" algn="ctr">
              <a:lnSpc>
                <a:spcPts val="3638"/>
              </a:lnSpc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AI-POWERED REAL-TIME EXAM MONITORING AND MALPRACTICE DETECTION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FBF667-2462-66CF-D38A-CCBD5BEBC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15" y="0"/>
            <a:ext cx="18300031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 rot="-5400000">
            <a:off x="11326231" y="3381185"/>
            <a:ext cx="10287000" cy="3524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267"/>
              </a:lnSpc>
            </a:pPr>
            <a:r>
              <a:rPr lang="en-US" sz="14100" b="1" spc="2256">
                <a:solidFill>
                  <a:srgbClr val="041226">
                    <a:alpha val="2745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Problem Statement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16616526" y="875437"/>
            <a:ext cx="762362" cy="623231"/>
          </a:xfrm>
          <a:custGeom>
            <a:avLst/>
            <a:gdLst/>
            <a:ahLst/>
            <a:cxnLst/>
            <a:rect l="l" t="t" r="r" b="b"/>
            <a:pathLst>
              <a:path w="762362" h="623231">
                <a:moveTo>
                  <a:pt x="0" y="0"/>
                </a:moveTo>
                <a:lnTo>
                  <a:pt x="762361" y="0"/>
                </a:lnTo>
                <a:lnTo>
                  <a:pt x="762361" y="623231"/>
                </a:lnTo>
                <a:lnTo>
                  <a:pt x="0" y="623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8387" y="8917914"/>
            <a:ext cx="632670" cy="368530"/>
          </a:xfrm>
          <a:custGeom>
            <a:avLst/>
            <a:gdLst/>
            <a:ahLst/>
            <a:cxnLst/>
            <a:rect l="l" t="t" r="r" b="b"/>
            <a:pathLst>
              <a:path w="632670" h="368530">
                <a:moveTo>
                  <a:pt x="0" y="0"/>
                </a:moveTo>
                <a:lnTo>
                  <a:pt x="632670" y="0"/>
                </a:lnTo>
                <a:lnTo>
                  <a:pt x="632670" y="368530"/>
                </a:lnTo>
                <a:lnTo>
                  <a:pt x="0" y="368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62651" y="1363023"/>
            <a:ext cx="1298855" cy="1298855"/>
          </a:xfrm>
          <a:custGeom>
            <a:avLst/>
            <a:gdLst/>
            <a:ahLst/>
            <a:cxnLst/>
            <a:rect l="l" t="t" r="r" b="b"/>
            <a:pathLst>
              <a:path w="1298855" h="1298855">
                <a:moveTo>
                  <a:pt x="0" y="0"/>
                </a:moveTo>
                <a:lnTo>
                  <a:pt x="1298855" y="0"/>
                </a:lnTo>
                <a:lnTo>
                  <a:pt x="1298855" y="1298855"/>
                </a:lnTo>
                <a:lnTo>
                  <a:pt x="0" y="1298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71392" y="3506516"/>
            <a:ext cx="12238857" cy="6198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2"/>
              </a:lnSpc>
            </a:pPr>
            <a:r>
              <a:rPr lang="en-US" sz="311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 in Online Examinations</a:t>
            </a:r>
          </a:p>
          <a:p>
            <a:pPr marL="672504" lvl="1" indent="-336252" algn="l">
              <a:lnSpc>
                <a:spcPts val="5482"/>
              </a:lnSpc>
              <a:buFont typeface="Arial"/>
              <a:buChar char="•"/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Lack of physical invigilation leads to increased malpractice</a:t>
            </a:r>
          </a:p>
          <a:p>
            <a:pPr marL="672504" lvl="1" indent="-336252" algn="l">
              <a:lnSpc>
                <a:spcPts val="5482"/>
              </a:lnSpc>
              <a:buFont typeface="Arial"/>
              <a:buChar char="•"/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Students can exploit:</a:t>
            </a:r>
          </a:p>
          <a:p>
            <a:pPr algn="l">
              <a:lnSpc>
                <a:spcPts val="5482"/>
              </a:lnSpc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1.Smartphones and secondary devices </a:t>
            </a:r>
          </a:p>
          <a:p>
            <a:pPr algn="l">
              <a:lnSpc>
                <a:spcPts val="5482"/>
              </a:lnSpc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2.Assistance from others </a:t>
            </a:r>
          </a:p>
          <a:p>
            <a:pPr algn="l">
              <a:lnSpc>
                <a:spcPts val="5482"/>
              </a:lnSpc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3.Identity fraud (proxy candidates) </a:t>
            </a:r>
          </a:p>
          <a:p>
            <a:pPr marL="672504" lvl="1" indent="-336252" algn="l">
              <a:lnSpc>
                <a:spcPts val="5482"/>
              </a:lnSpc>
              <a:buFont typeface="Arial"/>
              <a:buChar char="•"/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Existing proctoring systems:</a:t>
            </a:r>
          </a:p>
          <a:p>
            <a:pPr algn="l">
              <a:lnSpc>
                <a:spcPts val="5482"/>
              </a:lnSpc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1.Rule-based and rigid </a:t>
            </a:r>
          </a:p>
          <a:p>
            <a:pPr algn="l">
              <a:lnSpc>
                <a:spcPts val="5482"/>
              </a:lnSpc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2.Do not analyze behavior over time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4722" y="665606"/>
            <a:ext cx="7196099" cy="300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35"/>
              </a:lnSpc>
            </a:pPr>
            <a:r>
              <a:rPr lang="en-US" sz="10316" b="1" spc="82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Problem Statement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D14E4F-AC9C-7792-9805-8733FF0936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1705"/>
            <a:ext cx="18288000" cy="102852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998099" y="910856"/>
            <a:ext cx="18992118" cy="189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767"/>
              </a:lnSpc>
            </a:pPr>
            <a:r>
              <a:rPr lang="en-US" sz="13525" b="1" spc="2164">
                <a:solidFill>
                  <a:srgbClr val="041226">
                    <a:alpha val="2745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Proposed Solution</a:t>
            </a:r>
          </a:p>
        </p:txBody>
      </p:sp>
      <p:sp>
        <p:nvSpPr>
          <p:cNvPr id="4" name="Freeform 4"/>
          <p:cNvSpPr/>
          <p:nvPr/>
        </p:nvSpPr>
        <p:spPr>
          <a:xfrm flipH="1" flipV="1">
            <a:off x="1094413" y="1028700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759821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1" y="0"/>
                </a:lnTo>
                <a:lnTo>
                  <a:pt x="759821" y="75015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089294" y="5902617"/>
            <a:ext cx="3770563" cy="1543050"/>
            <a:chOff x="0" y="0"/>
            <a:chExt cx="99307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3070" cy="406400"/>
            </a:xfrm>
            <a:custGeom>
              <a:avLst/>
              <a:gdLst/>
              <a:ahLst/>
              <a:cxnLst/>
              <a:rect l="l" t="t" r="r" b="b"/>
              <a:pathLst>
                <a:path w="993070" h="406400">
                  <a:moveTo>
                    <a:pt x="789870" y="0"/>
                  </a:moveTo>
                  <a:cubicBezTo>
                    <a:pt x="902094" y="0"/>
                    <a:pt x="993070" y="90976"/>
                    <a:pt x="993070" y="203200"/>
                  </a:cubicBezTo>
                  <a:cubicBezTo>
                    <a:pt x="993070" y="315424"/>
                    <a:pt x="902094" y="406400"/>
                    <a:pt x="7898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9307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HEAD MOVEMENT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5902617"/>
            <a:ext cx="3770563" cy="1543050"/>
            <a:chOff x="0" y="0"/>
            <a:chExt cx="99307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93070" cy="406400"/>
            </a:xfrm>
            <a:custGeom>
              <a:avLst/>
              <a:gdLst/>
              <a:ahLst/>
              <a:cxnLst/>
              <a:rect l="l" t="t" r="r" b="b"/>
              <a:pathLst>
                <a:path w="993070" h="406400">
                  <a:moveTo>
                    <a:pt x="789870" y="0"/>
                  </a:moveTo>
                  <a:cubicBezTo>
                    <a:pt x="902094" y="0"/>
                    <a:pt x="993070" y="90976"/>
                    <a:pt x="993070" y="203200"/>
                  </a:cubicBezTo>
                  <a:cubicBezTo>
                    <a:pt x="993070" y="315424"/>
                    <a:pt x="902094" y="406400"/>
                    <a:pt x="7898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9307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IDENTITY </a:t>
              </a:r>
            </a:p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MISMATCH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10738" y="8042341"/>
            <a:ext cx="3770563" cy="1543050"/>
            <a:chOff x="0" y="0"/>
            <a:chExt cx="99307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3070" cy="406400"/>
            </a:xfrm>
            <a:custGeom>
              <a:avLst/>
              <a:gdLst/>
              <a:ahLst/>
              <a:cxnLst/>
              <a:rect l="l" t="t" r="r" b="b"/>
              <a:pathLst>
                <a:path w="993070" h="406400">
                  <a:moveTo>
                    <a:pt x="789870" y="0"/>
                  </a:moveTo>
                  <a:cubicBezTo>
                    <a:pt x="902094" y="0"/>
                    <a:pt x="993070" y="90976"/>
                    <a:pt x="993070" y="203200"/>
                  </a:cubicBezTo>
                  <a:cubicBezTo>
                    <a:pt x="993070" y="315424"/>
                    <a:pt x="902094" y="406400"/>
                    <a:pt x="7898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9307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PHONE USAGE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7994019" y="-810022"/>
            <a:ext cx="1070968" cy="1070968"/>
          </a:xfrm>
          <a:custGeom>
            <a:avLst/>
            <a:gdLst/>
            <a:ahLst/>
            <a:cxnLst/>
            <a:rect l="l" t="t" r="r" b="b"/>
            <a:pathLst>
              <a:path w="1070968" h="1070968">
                <a:moveTo>
                  <a:pt x="0" y="0"/>
                </a:moveTo>
                <a:lnTo>
                  <a:pt x="1070968" y="0"/>
                </a:lnTo>
                <a:lnTo>
                  <a:pt x="1070968" y="1070968"/>
                </a:lnTo>
                <a:lnTo>
                  <a:pt x="0" y="10709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98393" y="1346626"/>
            <a:ext cx="13181941" cy="163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63"/>
              </a:lnSpc>
            </a:pPr>
            <a:r>
              <a:rPr lang="en-US" sz="10342" b="1" spc="82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Proposed 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70499" y="3075240"/>
            <a:ext cx="13012239" cy="244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473" lvl="1" indent="-374237" algn="l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REAL-TIME MONITORING VIA WEBCAM </a:t>
            </a:r>
          </a:p>
          <a:p>
            <a:pPr marL="748473" lvl="1" indent="-374237" algn="l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MULTI-MODULE AI PIPELINE</a:t>
            </a:r>
          </a:p>
          <a:p>
            <a:pPr marL="770492" lvl="1" indent="-385246" algn="l">
              <a:lnSpc>
                <a:spcPts val="4996"/>
              </a:lnSpc>
              <a:buFont typeface="Arial"/>
              <a:buChar char="•"/>
            </a:pPr>
            <a:r>
              <a:rPr lang="en-US" sz="35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PERFORMS CONTINUOUS BEHAVIORAL ANALYSIS</a:t>
            </a:r>
          </a:p>
          <a:p>
            <a:pPr marL="748473" lvl="1" indent="-374237" algn="l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DETECTS: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76619" y="8042341"/>
            <a:ext cx="3770563" cy="1543050"/>
            <a:chOff x="0" y="0"/>
            <a:chExt cx="99307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3070" cy="406400"/>
            </a:xfrm>
            <a:custGeom>
              <a:avLst/>
              <a:gdLst/>
              <a:ahLst/>
              <a:cxnLst/>
              <a:rect l="l" t="t" r="r" b="b"/>
              <a:pathLst>
                <a:path w="993070" h="406400">
                  <a:moveTo>
                    <a:pt x="789870" y="0"/>
                  </a:moveTo>
                  <a:cubicBezTo>
                    <a:pt x="902094" y="0"/>
                    <a:pt x="993070" y="90976"/>
                    <a:pt x="993070" y="203200"/>
                  </a:cubicBezTo>
                  <a:cubicBezTo>
                    <a:pt x="993070" y="315424"/>
                    <a:pt x="902094" y="406400"/>
                    <a:pt x="78987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9307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MULTIPLE  </a:t>
              </a:r>
            </a:p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FACES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C6309BF9-F1A2-011F-AC52-99949578B7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18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45957" y="1766571"/>
            <a:ext cx="919983" cy="919983"/>
          </a:xfrm>
          <a:custGeom>
            <a:avLst/>
            <a:gdLst/>
            <a:ahLst/>
            <a:cxnLst/>
            <a:rect l="l" t="t" r="r" b="b"/>
            <a:pathLst>
              <a:path w="919983" h="919983">
                <a:moveTo>
                  <a:pt x="0" y="0"/>
                </a:moveTo>
                <a:lnTo>
                  <a:pt x="919983" y="0"/>
                </a:lnTo>
                <a:lnTo>
                  <a:pt x="919983" y="919984"/>
                </a:lnTo>
                <a:lnTo>
                  <a:pt x="0" y="91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300312" y="2323196"/>
            <a:ext cx="1036666" cy="0"/>
          </a:xfrm>
          <a:prstGeom prst="line">
            <a:avLst/>
          </a:prstGeom>
          <a:ln w="28575" cap="flat">
            <a:solidFill>
              <a:srgbClr val="7C7AA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" name="Freeform 5"/>
          <p:cNvSpPr/>
          <p:nvPr/>
        </p:nvSpPr>
        <p:spPr>
          <a:xfrm>
            <a:off x="6070403" y="1781669"/>
            <a:ext cx="1260573" cy="1099523"/>
          </a:xfrm>
          <a:custGeom>
            <a:avLst/>
            <a:gdLst/>
            <a:ahLst/>
            <a:cxnLst/>
            <a:rect l="l" t="t" r="r" b="b"/>
            <a:pathLst>
              <a:path w="1260573" h="1099523">
                <a:moveTo>
                  <a:pt x="0" y="0"/>
                </a:moveTo>
                <a:lnTo>
                  <a:pt x="1260574" y="0"/>
                </a:lnTo>
                <a:lnTo>
                  <a:pt x="1260574" y="1099523"/>
                </a:lnTo>
                <a:lnTo>
                  <a:pt x="0" y="1099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323" b="-732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486389" y="1508784"/>
            <a:ext cx="9155803" cy="5886123"/>
            <a:chOff x="0" y="0"/>
            <a:chExt cx="2411405" cy="15502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11405" cy="1550255"/>
            </a:xfrm>
            <a:custGeom>
              <a:avLst/>
              <a:gdLst/>
              <a:ahLst/>
              <a:cxnLst/>
              <a:rect l="l" t="t" r="r" b="b"/>
              <a:pathLst>
                <a:path w="2411405" h="1550255">
                  <a:moveTo>
                    <a:pt x="43124" y="0"/>
                  </a:moveTo>
                  <a:lnTo>
                    <a:pt x="2368281" y="0"/>
                  </a:lnTo>
                  <a:cubicBezTo>
                    <a:pt x="2379718" y="0"/>
                    <a:pt x="2390687" y="4543"/>
                    <a:pt x="2398774" y="12631"/>
                  </a:cubicBezTo>
                  <a:cubicBezTo>
                    <a:pt x="2406861" y="20718"/>
                    <a:pt x="2411405" y="31687"/>
                    <a:pt x="2411405" y="43124"/>
                  </a:cubicBezTo>
                  <a:lnTo>
                    <a:pt x="2411405" y="1507130"/>
                  </a:lnTo>
                  <a:cubicBezTo>
                    <a:pt x="2411405" y="1518568"/>
                    <a:pt x="2406861" y="1529536"/>
                    <a:pt x="2398774" y="1537624"/>
                  </a:cubicBezTo>
                  <a:cubicBezTo>
                    <a:pt x="2390687" y="1545711"/>
                    <a:pt x="2379718" y="1550255"/>
                    <a:pt x="2368281" y="1550255"/>
                  </a:cubicBezTo>
                  <a:lnTo>
                    <a:pt x="43124" y="1550255"/>
                  </a:lnTo>
                  <a:cubicBezTo>
                    <a:pt x="31687" y="1550255"/>
                    <a:pt x="20718" y="1545711"/>
                    <a:pt x="12631" y="1537624"/>
                  </a:cubicBezTo>
                  <a:cubicBezTo>
                    <a:pt x="4543" y="1529536"/>
                    <a:pt x="0" y="1518568"/>
                    <a:pt x="0" y="1507130"/>
                  </a:cubicBezTo>
                  <a:lnTo>
                    <a:pt x="0" y="43124"/>
                  </a:lnTo>
                  <a:cubicBezTo>
                    <a:pt x="0" y="31687"/>
                    <a:pt x="4543" y="20718"/>
                    <a:pt x="12631" y="12631"/>
                  </a:cubicBezTo>
                  <a:cubicBezTo>
                    <a:pt x="20718" y="4543"/>
                    <a:pt x="31687" y="0"/>
                    <a:pt x="43124" y="0"/>
                  </a:cubicBezTo>
                  <a:close/>
                </a:path>
              </a:pathLst>
            </a:custGeom>
            <a:solidFill>
              <a:srgbClr val="7C7AAC">
                <a:alpha val="7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11405" cy="1597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621859" y="1781669"/>
            <a:ext cx="1174249" cy="1053357"/>
          </a:xfrm>
          <a:custGeom>
            <a:avLst/>
            <a:gdLst/>
            <a:ahLst/>
            <a:cxnLst/>
            <a:rect l="l" t="t" r="r" b="b"/>
            <a:pathLst>
              <a:path w="1174249" h="1053357">
                <a:moveTo>
                  <a:pt x="0" y="0"/>
                </a:moveTo>
                <a:lnTo>
                  <a:pt x="1174249" y="0"/>
                </a:lnTo>
                <a:lnTo>
                  <a:pt x="1174249" y="1053357"/>
                </a:lnTo>
                <a:lnTo>
                  <a:pt x="0" y="10533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743" b="-9733"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7956543" y="2331431"/>
            <a:ext cx="1036666" cy="0"/>
          </a:xfrm>
          <a:prstGeom prst="line">
            <a:avLst/>
          </a:prstGeom>
          <a:ln w="28575" cap="flat">
            <a:solidFill>
              <a:srgbClr val="7C7AA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" name="Freeform 11"/>
          <p:cNvSpPr/>
          <p:nvPr/>
        </p:nvSpPr>
        <p:spPr>
          <a:xfrm>
            <a:off x="13213467" y="1766571"/>
            <a:ext cx="1068455" cy="1068455"/>
          </a:xfrm>
          <a:custGeom>
            <a:avLst/>
            <a:gdLst/>
            <a:ahLst/>
            <a:cxnLst/>
            <a:rect l="l" t="t" r="r" b="b"/>
            <a:pathLst>
              <a:path w="1068455" h="1068455">
                <a:moveTo>
                  <a:pt x="0" y="0"/>
                </a:moveTo>
                <a:lnTo>
                  <a:pt x="1068455" y="0"/>
                </a:lnTo>
                <a:lnTo>
                  <a:pt x="1068455" y="1068455"/>
                </a:lnTo>
                <a:lnTo>
                  <a:pt x="0" y="10684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AutoShape 12"/>
          <p:cNvSpPr/>
          <p:nvPr/>
        </p:nvSpPr>
        <p:spPr>
          <a:xfrm>
            <a:off x="11922850" y="2342246"/>
            <a:ext cx="1036666" cy="0"/>
          </a:xfrm>
          <a:prstGeom prst="line">
            <a:avLst/>
          </a:prstGeom>
          <a:ln w="28575" cap="flat">
            <a:solidFill>
              <a:srgbClr val="7C7AA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Freeform 13"/>
          <p:cNvSpPr/>
          <p:nvPr/>
        </p:nvSpPr>
        <p:spPr>
          <a:xfrm>
            <a:off x="9712501" y="4432682"/>
            <a:ext cx="992963" cy="992963"/>
          </a:xfrm>
          <a:custGeom>
            <a:avLst/>
            <a:gdLst/>
            <a:ahLst/>
            <a:cxnLst/>
            <a:rect l="l" t="t" r="r" b="b"/>
            <a:pathLst>
              <a:path w="992963" h="992963">
                <a:moveTo>
                  <a:pt x="0" y="0"/>
                </a:moveTo>
                <a:lnTo>
                  <a:pt x="992964" y="0"/>
                </a:lnTo>
                <a:lnTo>
                  <a:pt x="992964" y="992963"/>
                </a:lnTo>
                <a:lnTo>
                  <a:pt x="0" y="9929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>
            <a:off x="10208983" y="3790699"/>
            <a:ext cx="0" cy="525106"/>
          </a:xfrm>
          <a:prstGeom prst="line">
            <a:avLst/>
          </a:prstGeom>
          <a:ln w="28575" cap="flat">
            <a:solidFill>
              <a:srgbClr val="7C7AA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5" name="Freeform 15"/>
          <p:cNvSpPr/>
          <p:nvPr/>
        </p:nvSpPr>
        <p:spPr>
          <a:xfrm>
            <a:off x="9617560" y="8059287"/>
            <a:ext cx="1109068" cy="1109068"/>
          </a:xfrm>
          <a:custGeom>
            <a:avLst/>
            <a:gdLst/>
            <a:ahLst/>
            <a:cxnLst/>
            <a:rect l="l" t="t" r="r" b="b"/>
            <a:pathLst>
              <a:path w="1109068" h="1109068">
                <a:moveTo>
                  <a:pt x="0" y="0"/>
                </a:moveTo>
                <a:lnTo>
                  <a:pt x="1109068" y="0"/>
                </a:lnTo>
                <a:lnTo>
                  <a:pt x="1109068" y="1109068"/>
                </a:lnTo>
                <a:lnTo>
                  <a:pt x="0" y="11090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154222" y="2833567"/>
            <a:ext cx="1903452" cy="39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INPUT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19020" y="2833567"/>
            <a:ext cx="1963341" cy="43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0208983" y="6954802"/>
            <a:ext cx="0" cy="786693"/>
          </a:xfrm>
          <a:prstGeom prst="line">
            <a:avLst/>
          </a:prstGeom>
          <a:ln w="28575" cap="flat">
            <a:solidFill>
              <a:srgbClr val="7C7AA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9" name="AutoShape 19"/>
          <p:cNvSpPr/>
          <p:nvPr/>
        </p:nvSpPr>
        <p:spPr>
          <a:xfrm flipH="1" flipV="1">
            <a:off x="2154222" y="2342246"/>
            <a:ext cx="7173712" cy="6077616"/>
          </a:xfrm>
          <a:prstGeom prst="line">
            <a:avLst/>
          </a:prstGeom>
          <a:ln w="28575" cap="flat">
            <a:solidFill>
              <a:srgbClr val="7C7AA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" name="Freeform 20"/>
          <p:cNvSpPr/>
          <p:nvPr/>
        </p:nvSpPr>
        <p:spPr>
          <a:xfrm>
            <a:off x="4601926" y="148012"/>
            <a:ext cx="1360772" cy="1360772"/>
          </a:xfrm>
          <a:custGeom>
            <a:avLst/>
            <a:gdLst/>
            <a:ahLst/>
            <a:cxnLst/>
            <a:rect l="l" t="t" r="r" b="b"/>
            <a:pathLst>
              <a:path w="1360772" h="1360772">
                <a:moveTo>
                  <a:pt x="0" y="0"/>
                </a:moveTo>
                <a:lnTo>
                  <a:pt x="1360773" y="0"/>
                </a:lnTo>
                <a:lnTo>
                  <a:pt x="1360773" y="1360772"/>
                </a:lnTo>
                <a:lnTo>
                  <a:pt x="0" y="13607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 rot="-5400000">
            <a:off x="12258204" y="4427938"/>
            <a:ext cx="10106967" cy="125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60"/>
              </a:lnSpc>
            </a:pPr>
            <a:r>
              <a:rPr lang="en-US" sz="8920" b="1" spc="1427">
                <a:solidFill>
                  <a:srgbClr val="041226">
                    <a:alpha val="1961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ARCHITECTURE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52414" y="332631"/>
            <a:ext cx="6375839" cy="117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55"/>
              </a:lnSpc>
            </a:pPr>
            <a:r>
              <a:rPr lang="en-US" sz="7410" b="1" spc="59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ARCHITECTURE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27934" y="2833567"/>
            <a:ext cx="1842254" cy="43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77197" y="2057584"/>
            <a:ext cx="1793438" cy="43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ENGINE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15704" y="5378020"/>
            <a:ext cx="1986558" cy="43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DATABASE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25973" y="9282655"/>
            <a:ext cx="2654141" cy="43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 LAYER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5692" y="8680034"/>
            <a:ext cx="3001923" cy="43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FEEDBACK LOOP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54222" y="3312469"/>
            <a:ext cx="2306785" cy="815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2"/>
              </a:lnSpc>
            </a:pPr>
            <a:r>
              <a:rPr lang="en-US" sz="21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Webcam video stream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02468" y="2884332"/>
            <a:ext cx="4716170" cy="349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1770" lvl="1" indent="-220885" algn="l">
              <a:lnSpc>
                <a:spcPts val="3110"/>
              </a:lnSpc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Face Detection &amp; Landmarks (MediaPipe)</a:t>
            </a:r>
          </a:p>
          <a:p>
            <a:pPr marL="441770" lvl="1" indent="-220885" algn="l">
              <a:lnSpc>
                <a:spcPts val="3110"/>
              </a:lnSpc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Head Pose Estimation</a:t>
            </a:r>
          </a:p>
          <a:p>
            <a:pPr algn="l">
              <a:lnSpc>
                <a:spcPts val="3110"/>
              </a:lnSpc>
            </a:pPr>
            <a:r>
              <a:rPr lang="en-US" sz="20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(OpenCV solvePnP)</a:t>
            </a:r>
          </a:p>
          <a:p>
            <a:pPr marL="441770" lvl="1" indent="-220885" algn="l">
              <a:lnSpc>
                <a:spcPts val="3110"/>
              </a:lnSpc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Face Monitoring</a:t>
            </a:r>
          </a:p>
          <a:p>
            <a:pPr marL="441770" lvl="1" indent="-220885" algn="l">
              <a:lnSpc>
                <a:spcPts val="3110"/>
              </a:lnSpc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Identity Verification (DeepFace)</a:t>
            </a:r>
          </a:p>
          <a:p>
            <a:pPr marL="441770" lvl="1" indent="-220885" algn="l">
              <a:lnSpc>
                <a:spcPts val="3110"/>
              </a:lnSpc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Phone Detection (YOLOv8 + custom model)</a:t>
            </a:r>
          </a:p>
          <a:p>
            <a:pPr marL="441770" lvl="1" indent="-220885" algn="l">
              <a:lnSpc>
                <a:spcPts val="3110"/>
              </a:lnSpc>
              <a:buFont typeface="Arial"/>
              <a:buChar char="•"/>
            </a:pPr>
            <a:r>
              <a:rPr lang="en-US" sz="20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Suspicion Scoring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27227" y="8233061"/>
            <a:ext cx="4017943" cy="1519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665" lvl="1" indent="-291333" algn="l">
              <a:lnSpc>
                <a:spcPts val="4102"/>
              </a:lnSpc>
              <a:buFont typeface="Arial"/>
              <a:buChar char="•"/>
            </a:pPr>
            <a:r>
              <a:rPr lang="en-US" sz="26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Real-time alerts </a:t>
            </a:r>
          </a:p>
          <a:p>
            <a:pPr marL="582665" lvl="1" indent="-291333" algn="l">
              <a:lnSpc>
                <a:spcPts val="4102"/>
              </a:lnSpc>
              <a:buFont typeface="Arial"/>
              <a:buChar char="•"/>
            </a:pPr>
            <a:r>
              <a:rPr lang="en-US" sz="26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Activity logs</a:t>
            </a:r>
          </a:p>
          <a:p>
            <a:pPr marL="582665" lvl="1" indent="-291333" algn="l">
              <a:lnSpc>
                <a:spcPts val="4102"/>
              </a:lnSpc>
              <a:buFont typeface="Arial"/>
              <a:buChar char="•"/>
            </a:pPr>
            <a:r>
              <a:rPr lang="en-US" sz="26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Suspicion score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47297" y="3362688"/>
            <a:ext cx="2729542" cy="1106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351" lvl="1" indent="-194175" algn="l">
              <a:lnSpc>
                <a:spcPts val="2734"/>
              </a:lnSpc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MCQ exam interface</a:t>
            </a:r>
          </a:p>
          <a:p>
            <a:pPr marL="388351" lvl="1" indent="-194175" algn="l">
              <a:lnSpc>
                <a:spcPts val="2734"/>
              </a:lnSpc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Camera access (WebRTC)</a:t>
            </a:r>
          </a:p>
          <a:p>
            <a:pPr algn="l">
              <a:lnSpc>
                <a:spcPts val="417"/>
              </a:lnSpc>
            </a:pPr>
            <a:endParaRPr lang="en-US" sz="1798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68247" y="9170245"/>
            <a:ext cx="6078736" cy="43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Continuous monitoring during exam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62566" y="5883501"/>
            <a:ext cx="3971449" cy="124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450" lvl="1" indent="-194225" algn="l">
              <a:lnSpc>
                <a:spcPts val="2518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Stores user data &amp; embeddings</a:t>
            </a:r>
          </a:p>
          <a:p>
            <a:pPr marL="388450" lvl="1" indent="-194225" algn="l">
              <a:lnSpc>
                <a:spcPts val="2518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Logs violations &amp; alerts</a:t>
            </a:r>
          </a:p>
          <a:p>
            <a:pPr marL="388450" lvl="1" indent="-194225" algn="l">
              <a:lnSpc>
                <a:spcPts val="2518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Maintains suspicion scores</a:t>
            </a:r>
          </a:p>
          <a:p>
            <a:pPr algn="l">
              <a:lnSpc>
                <a:spcPts val="2518"/>
              </a:lnSpc>
            </a:pPr>
            <a:endParaRPr lang="en-US" sz="17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944235" y="3359376"/>
            <a:ext cx="3672483" cy="322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3853" lvl="1" indent="-206926" algn="l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Python (Flask + Threading)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778812" y="6498826"/>
            <a:ext cx="4685558" cy="1387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“All modules execute in parallel to ensure real-time monitoring”</a:t>
            </a:r>
          </a:p>
          <a:p>
            <a:pPr algn="ctr">
              <a:lnSpc>
                <a:spcPts val="2798"/>
              </a:lnSpc>
              <a:spcBef>
                <a:spcPct val="0"/>
              </a:spcBef>
            </a:pPr>
            <a:endParaRPr lang="en-US" sz="19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2798"/>
              </a:lnSpc>
              <a:spcBef>
                <a:spcPct val="0"/>
              </a:spcBef>
            </a:pPr>
            <a:endParaRPr lang="en-US" sz="19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A8DA151-94A8-C351-1179-2E074C9BA9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4" y="5432"/>
            <a:ext cx="18249784" cy="10281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606612" y="4948928"/>
            <a:ext cx="3664022" cy="1206514"/>
            <a:chOff x="0" y="0"/>
            <a:chExt cx="965010" cy="3177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5010" cy="317765"/>
            </a:xfrm>
            <a:custGeom>
              <a:avLst/>
              <a:gdLst/>
              <a:ahLst/>
              <a:cxnLst/>
              <a:rect l="l" t="t" r="r" b="b"/>
              <a:pathLst>
                <a:path w="965010" h="317765">
                  <a:moveTo>
                    <a:pt x="0" y="50800"/>
                  </a:moveTo>
                  <a:lnTo>
                    <a:pt x="482505" y="0"/>
                  </a:lnTo>
                  <a:lnTo>
                    <a:pt x="965010" y="50800"/>
                  </a:lnTo>
                  <a:lnTo>
                    <a:pt x="965010" y="266965"/>
                  </a:lnTo>
                  <a:lnTo>
                    <a:pt x="482505" y="317765"/>
                  </a:lnTo>
                  <a:lnTo>
                    <a:pt x="0" y="266965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0325"/>
              <a:ext cx="965010" cy="352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78"/>
                </a:lnSpc>
              </a:pPr>
              <a:r>
                <a:rPr lang="en-US" sz="46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USING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85639" y="6470719"/>
            <a:ext cx="4650047" cy="724055"/>
            <a:chOff x="0" y="0"/>
            <a:chExt cx="1224704" cy="1906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24704" cy="190698"/>
            </a:xfrm>
            <a:custGeom>
              <a:avLst/>
              <a:gdLst/>
              <a:ahLst/>
              <a:cxnLst/>
              <a:rect l="l" t="t" r="r" b="b"/>
              <a:pathLst>
                <a:path w="1224704" h="190698">
                  <a:moveTo>
                    <a:pt x="84911" y="0"/>
                  </a:moveTo>
                  <a:lnTo>
                    <a:pt x="1139793" y="0"/>
                  </a:lnTo>
                  <a:cubicBezTo>
                    <a:pt x="1162313" y="0"/>
                    <a:pt x="1183910" y="8946"/>
                    <a:pt x="1199834" y="24870"/>
                  </a:cubicBezTo>
                  <a:cubicBezTo>
                    <a:pt x="1215758" y="40794"/>
                    <a:pt x="1224704" y="62391"/>
                    <a:pt x="1224704" y="84911"/>
                  </a:cubicBezTo>
                  <a:lnTo>
                    <a:pt x="1224704" y="105787"/>
                  </a:lnTo>
                  <a:cubicBezTo>
                    <a:pt x="1224704" y="128307"/>
                    <a:pt x="1215758" y="149904"/>
                    <a:pt x="1199834" y="165828"/>
                  </a:cubicBezTo>
                  <a:cubicBezTo>
                    <a:pt x="1183910" y="181752"/>
                    <a:pt x="1162313" y="190698"/>
                    <a:pt x="1139793" y="190698"/>
                  </a:cubicBezTo>
                  <a:lnTo>
                    <a:pt x="84911" y="190698"/>
                  </a:lnTo>
                  <a:cubicBezTo>
                    <a:pt x="62391" y="190698"/>
                    <a:pt x="40794" y="181752"/>
                    <a:pt x="24870" y="165828"/>
                  </a:cubicBezTo>
                  <a:cubicBezTo>
                    <a:pt x="8946" y="149904"/>
                    <a:pt x="0" y="128307"/>
                    <a:pt x="0" y="105787"/>
                  </a:cubicBezTo>
                  <a:lnTo>
                    <a:pt x="0" y="84911"/>
                  </a:lnTo>
                  <a:cubicBezTo>
                    <a:pt x="0" y="62391"/>
                    <a:pt x="8946" y="40794"/>
                    <a:pt x="24870" y="24870"/>
                  </a:cubicBezTo>
                  <a:cubicBezTo>
                    <a:pt x="40794" y="8946"/>
                    <a:pt x="62391" y="0"/>
                    <a:pt x="84911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24704" cy="238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LEFT / RIGHT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85994" y="7573715"/>
            <a:ext cx="4649693" cy="784449"/>
            <a:chOff x="0" y="0"/>
            <a:chExt cx="1224611" cy="2066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24611" cy="206604"/>
            </a:xfrm>
            <a:custGeom>
              <a:avLst/>
              <a:gdLst/>
              <a:ahLst/>
              <a:cxnLst/>
              <a:rect l="l" t="t" r="r" b="b"/>
              <a:pathLst>
                <a:path w="1224611" h="206604">
                  <a:moveTo>
                    <a:pt x="84917" y="0"/>
                  </a:moveTo>
                  <a:lnTo>
                    <a:pt x="1139694" y="0"/>
                  </a:lnTo>
                  <a:cubicBezTo>
                    <a:pt x="1186592" y="0"/>
                    <a:pt x="1224611" y="38019"/>
                    <a:pt x="1224611" y="84917"/>
                  </a:cubicBezTo>
                  <a:lnTo>
                    <a:pt x="1224611" y="121687"/>
                  </a:lnTo>
                  <a:cubicBezTo>
                    <a:pt x="1224611" y="168585"/>
                    <a:pt x="1186592" y="206604"/>
                    <a:pt x="1139694" y="206604"/>
                  </a:cubicBezTo>
                  <a:lnTo>
                    <a:pt x="84917" y="206604"/>
                  </a:lnTo>
                  <a:cubicBezTo>
                    <a:pt x="38019" y="206604"/>
                    <a:pt x="0" y="168585"/>
                    <a:pt x="0" y="121687"/>
                  </a:cubicBezTo>
                  <a:lnTo>
                    <a:pt x="0" y="84917"/>
                  </a:lnTo>
                  <a:cubicBezTo>
                    <a:pt x="0" y="38019"/>
                    <a:pt x="38019" y="0"/>
                    <a:pt x="84917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24611" cy="254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UP / DOWN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85994" y="8796314"/>
            <a:ext cx="4649693" cy="784449"/>
            <a:chOff x="0" y="0"/>
            <a:chExt cx="1224611" cy="2066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24611" cy="206604"/>
            </a:xfrm>
            <a:custGeom>
              <a:avLst/>
              <a:gdLst/>
              <a:ahLst/>
              <a:cxnLst/>
              <a:rect l="l" t="t" r="r" b="b"/>
              <a:pathLst>
                <a:path w="1224611" h="206604">
                  <a:moveTo>
                    <a:pt x="84917" y="0"/>
                  </a:moveTo>
                  <a:lnTo>
                    <a:pt x="1139694" y="0"/>
                  </a:lnTo>
                  <a:cubicBezTo>
                    <a:pt x="1186592" y="0"/>
                    <a:pt x="1224611" y="38019"/>
                    <a:pt x="1224611" y="84917"/>
                  </a:cubicBezTo>
                  <a:lnTo>
                    <a:pt x="1224611" y="121687"/>
                  </a:lnTo>
                  <a:cubicBezTo>
                    <a:pt x="1224611" y="168585"/>
                    <a:pt x="1186592" y="206604"/>
                    <a:pt x="1139694" y="206604"/>
                  </a:cubicBezTo>
                  <a:lnTo>
                    <a:pt x="84917" y="206604"/>
                  </a:lnTo>
                  <a:cubicBezTo>
                    <a:pt x="38019" y="206604"/>
                    <a:pt x="0" y="168585"/>
                    <a:pt x="0" y="121687"/>
                  </a:cubicBezTo>
                  <a:lnTo>
                    <a:pt x="0" y="84917"/>
                  </a:lnTo>
                  <a:cubicBezTo>
                    <a:pt x="0" y="38019"/>
                    <a:pt x="38019" y="0"/>
                    <a:pt x="84917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224611" cy="254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TILT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33081" y="6574542"/>
            <a:ext cx="4650047" cy="724055"/>
            <a:chOff x="0" y="0"/>
            <a:chExt cx="1224704" cy="1906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24704" cy="190698"/>
            </a:xfrm>
            <a:custGeom>
              <a:avLst/>
              <a:gdLst/>
              <a:ahLst/>
              <a:cxnLst/>
              <a:rect l="l" t="t" r="r" b="b"/>
              <a:pathLst>
                <a:path w="1224704" h="190698">
                  <a:moveTo>
                    <a:pt x="84911" y="0"/>
                  </a:moveTo>
                  <a:lnTo>
                    <a:pt x="1139793" y="0"/>
                  </a:lnTo>
                  <a:cubicBezTo>
                    <a:pt x="1162313" y="0"/>
                    <a:pt x="1183910" y="8946"/>
                    <a:pt x="1199834" y="24870"/>
                  </a:cubicBezTo>
                  <a:cubicBezTo>
                    <a:pt x="1215758" y="40794"/>
                    <a:pt x="1224704" y="62391"/>
                    <a:pt x="1224704" y="84911"/>
                  </a:cubicBezTo>
                  <a:lnTo>
                    <a:pt x="1224704" y="105787"/>
                  </a:lnTo>
                  <a:cubicBezTo>
                    <a:pt x="1224704" y="128307"/>
                    <a:pt x="1215758" y="149904"/>
                    <a:pt x="1199834" y="165828"/>
                  </a:cubicBezTo>
                  <a:cubicBezTo>
                    <a:pt x="1183910" y="181752"/>
                    <a:pt x="1162313" y="190698"/>
                    <a:pt x="1139793" y="190698"/>
                  </a:cubicBezTo>
                  <a:lnTo>
                    <a:pt x="84911" y="190698"/>
                  </a:lnTo>
                  <a:cubicBezTo>
                    <a:pt x="62391" y="190698"/>
                    <a:pt x="40794" y="181752"/>
                    <a:pt x="24870" y="165828"/>
                  </a:cubicBezTo>
                  <a:cubicBezTo>
                    <a:pt x="8946" y="149904"/>
                    <a:pt x="0" y="128307"/>
                    <a:pt x="0" y="105787"/>
                  </a:cubicBezTo>
                  <a:lnTo>
                    <a:pt x="0" y="84911"/>
                  </a:lnTo>
                  <a:cubicBezTo>
                    <a:pt x="0" y="62391"/>
                    <a:pt x="8946" y="40794"/>
                    <a:pt x="24870" y="24870"/>
                  </a:cubicBezTo>
                  <a:cubicBezTo>
                    <a:pt x="40794" y="8946"/>
                    <a:pt x="62391" y="0"/>
                    <a:pt x="84911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224704" cy="2383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YAW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33081" y="7573715"/>
            <a:ext cx="4650047" cy="784449"/>
            <a:chOff x="0" y="0"/>
            <a:chExt cx="1224704" cy="2066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24704" cy="206604"/>
            </a:xfrm>
            <a:custGeom>
              <a:avLst/>
              <a:gdLst/>
              <a:ahLst/>
              <a:cxnLst/>
              <a:rect l="l" t="t" r="r" b="b"/>
              <a:pathLst>
                <a:path w="1224704" h="206604">
                  <a:moveTo>
                    <a:pt x="84911" y="0"/>
                  </a:moveTo>
                  <a:lnTo>
                    <a:pt x="1139793" y="0"/>
                  </a:lnTo>
                  <a:cubicBezTo>
                    <a:pt x="1162313" y="0"/>
                    <a:pt x="1183910" y="8946"/>
                    <a:pt x="1199834" y="24870"/>
                  </a:cubicBezTo>
                  <a:cubicBezTo>
                    <a:pt x="1215758" y="40794"/>
                    <a:pt x="1224704" y="62391"/>
                    <a:pt x="1224704" y="84911"/>
                  </a:cubicBezTo>
                  <a:lnTo>
                    <a:pt x="1224704" y="121693"/>
                  </a:lnTo>
                  <a:cubicBezTo>
                    <a:pt x="1224704" y="144213"/>
                    <a:pt x="1215758" y="165810"/>
                    <a:pt x="1199834" y="181734"/>
                  </a:cubicBezTo>
                  <a:cubicBezTo>
                    <a:pt x="1183910" y="197658"/>
                    <a:pt x="1162313" y="206604"/>
                    <a:pt x="1139793" y="206604"/>
                  </a:cubicBezTo>
                  <a:lnTo>
                    <a:pt x="84911" y="206604"/>
                  </a:lnTo>
                  <a:cubicBezTo>
                    <a:pt x="62391" y="206604"/>
                    <a:pt x="40794" y="197658"/>
                    <a:pt x="24870" y="181734"/>
                  </a:cubicBezTo>
                  <a:cubicBezTo>
                    <a:pt x="8946" y="165810"/>
                    <a:pt x="0" y="144213"/>
                    <a:pt x="0" y="121693"/>
                  </a:cubicBezTo>
                  <a:lnTo>
                    <a:pt x="0" y="84911"/>
                  </a:lnTo>
                  <a:cubicBezTo>
                    <a:pt x="0" y="62391"/>
                    <a:pt x="8946" y="40794"/>
                    <a:pt x="24870" y="24870"/>
                  </a:cubicBezTo>
                  <a:cubicBezTo>
                    <a:pt x="40794" y="8946"/>
                    <a:pt x="62391" y="0"/>
                    <a:pt x="84911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224704" cy="254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PITCH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33081" y="8796314"/>
            <a:ext cx="4650047" cy="784449"/>
            <a:chOff x="0" y="0"/>
            <a:chExt cx="1224704" cy="2066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24704" cy="206604"/>
            </a:xfrm>
            <a:custGeom>
              <a:avLst/>
              <a:gdLst/>
              <a:ahLst/>
              <a:cxnLst/>
              <a:rect l="l" t="t" r="r" b="b"/>
              <a:pathLst>
                <a:path w="1224704" h="206604">
                  <a:moveTo>
                    <a:pt x="84911" y="0"/>
                  </a:moveTo>
                  <a:lnTo>
                    <a:pt x="1139793" y="0"/>
                  </a:lnTo>
                  <a:cubicBezTo>
                    <a:pt x="1162313" y="0"/>
                    <a:pt x="1183910" y="8946"/>
                    <a:pt x="1199834" y="24870"/>
                  </a:cubicBezTo>
                  <a:cubicBezTo>
                    <a:pt x="1215758" y="40794"/>
                    <a:pt x="1224704" y="62391"/>
                    <a:pt x="1224704" y="84911"/>
                  </a:cubicBezTo>
                  <a:lnTo>
                    <a:pt x="1224704" y="121693"/>
                  </a:lnTo>
                  <a:cubicBezTo>
                    <a:pt x="1224704" y="144213"/>
                    <a:pt x="1215758" y="165810"/>
                    <a:pt x="1199834" y="181734"/>
                  </a:cubicBezTo>
                  <a:cubicBezTo>
                    <a:pt x="1183910" y="197658"/>
                    <a:pt x="1162313" y="206604"/>
                    <a:pt x="1139793" y="206604"/>
                  </a:cubicBezTo>
                  <a:lnTo>
                    <a:pt x="84911" y="206604"/>
                  </a:lnTo>
                  <a:cubicBezTo>
                    <a:pt x="62391" y="206604"/>
                    <a:pt x="40794" y="197658"/>
                    <a:pt x="24870" y="181734"/>
                  </a:cubicBezTo>
                  <a:cubicBezTo>
                    <a:pt x="8946" y="165810"/>
                    <a:pt x="0" y="144213"/>
                    <a:pt x="0" y="121693"/>
                  </a:cubicBezTo>
                  <a:lnTo>
                    <a:pt x="0" y="84911"/>
                  </a:lnTo>
                  <a:cubicBezTo>
                    <a:pt x="0" y="62391"/>
                    <a:pt x="8946" y="40794"/>
                    <a:pt x="24870" y="24870"/>
                  </a:cubicBezTo>
                  <a:cubicBezTo>
                    <a:pt x="40794" y="8946"/>
                    <a:pt x="62391" y="0"/>
                    <a:pt x="84911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224704" cy="254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ROLL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7277425" y="6799110"/>
            <a:ext cx="1307934" cy="14390"/>
          </a:xfrm>
          <a:prstGeom prst="line">
            <a:avLst/>
          </a:prstGeom>
          <a:ln w="57150" cap="flat">
            <a:solidFill>
              <a:srgbClr val="7C7AA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" name="AutoShape 25"/>
          <p:cNvSpPr/>
          <p:nvPr/>
        </p:nvSpPr>
        <p:spPr>
          <a:xfrm flipV="1">
            <a:off x="7372326" y="7994513"/>
            <a:ext cx="1307934" cy="14390"/>
          </a:xfrm>
          <a:prstGeom prst="line">
            <a:avLst/>
          </a:prstGeom>
          <a:ln w="57150" cap="flat">
            <a:solidFill>
              <a:srgbClr val="7C7AA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6" name="AutoShape 26"/>
          <p:cNvSpPr/>
          <p:nvPr/>
        </p:nvSpPr>
        <p:spPr>
          <a:xfrm flipV="1">
            <a:off x="7372640" y="9145576"/>
            <a:ext cx="1307934" cy="14390"/>
          </a:xfrm>
          <a:prstGeom prst="line">
            <a:avLst/>
          </a:prstGeom>
          <a:ln w="57150" cap="flat">
            <a:solidFill>
              <a:srgbClr val="7C7AAC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7" name="Freeform 27"/>
          <p:cNvSpPr/>
          <p:nvPr/>
        </p:nvSpPr>
        <p:spPr>
          <a:xfrm>
            <a:off x="372532" y="329032"/>
            <a:ext cx="2013107" cy="2013107"/>
          </a:xfrm>
          <a:custGeom>
            <a:avLst/>
            <a:gdLst/>
            <a:ahLst/>
            <a:cxnLst/>
            <a:rect l="l" t="t" r="r" b="b"/>
            <a:pathLst>
              <a:path w="2013107" h="2013107">
                <a:moveTo>
                  <a:pt x="0" y="0"/>
                </a:moveTo>
                <a:lnTo>
                  <a:pt x="2013107" y="0"/>
                </a:lnTo>
                <a:lnTo>
                  <a:pt x="2013107" y="2013107"/>
                </a:lnTo>
                <a:lnTo>
                  <a:pt x="0" y="2013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2035254" y="589032"/>
            <a:ext cx="17439316" cy="153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18"/>
              </a:lnSpc>
            </a:pPr>
            <a:r>
              <a:rPr lang="en-US" sz="10940" b="1" spc="1750">
                <a:solidFill>
                  <a:srgbClr val="041226">
                    <a:alpha val="2745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Head Pose Tracking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53030" y="491163"/>
            <a:ext cx="13181941" cy="163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63"/>
              </a:lnSpc>
            </a:pPr>
            <a:r>
              <a:rPr lang="en-US" sz="10342" b="1" spc="82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Head Pose Tracking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848251" y="4950860"/>
            <a:ext cx="3784810" cy="1204582"/>
            <a:chOff x="0" y="0"/>
            <a:chExt cx="996822" cy="3172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96822" cy="317256"/>
            </a:xfrm>
            <a:custGeom>
              <a:avLst/>
              <a:gdLst/>
              <a:ahLst/>
              <a:cxnLst/>
              <a:rect l="l" t="t" r="r" b="b"/>
              <a:pathLst>
                <a:path w="996822" h="317256">
                  <a:moveTo>
                    <a:pt x="0" y="50800"/>
                  </a:moveTo>
                  <a:lnTo>
                    <a:pt x="498411" y="0"/>
                  </a:lnTo>
                  <a:lnTo>
                    <a:pt x="996822" y="50800"/>
                  </a:lnTo>
                  <a:lnTo>
                    <a:pt x="996822" y="266456"/>
                  </a:lnTo>
                  <a:lnTo>
                    <a:pt x="498411" y="317256"/>
                  </a:lnTo>
                  <a:lnTo>
                    <a:pt x="0" y="266456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60325"/>
              <a:ext cx="996822" cy="352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578"/>
                </a:lnSpc>
              </a:pPr>
              <a:r>
                <a:rPr lang="en-US" sz="46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TRACKS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385639" y="2534584"/>
            <a:ext cx="12657177" cy="206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HEAD MOVEMENT IS A STRONG INDICATOR OF ATTENTION SHIFT</a:t>
            </a:r>
          </a:p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HELPS DETECT:</a:t>
            </a:r>
          </a:p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1.LOOKING AT NOTES </a:t>
            </a:r>
          </a:p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2.WATCHING ANOTHER SCREEN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EC2BB3E-94B5-ABB2-B194-7E005E41C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38" y="5068"/>
            <a:ext cx="18289137" cy="102819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28700" y="1028700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759822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2" y="0"/>
                </a:lnTo>
                <a:lnTo>
                  <a:pt x="759822" y="75015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5143500"/>
            <a:ext cx="4828749" cy="1181881"/>
            <a:chOff x="0" y="0"/>
            <a:chExt cx="1353610" cy="33130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53610" cy="331309"/>
            </a:xfrm>
            <a:custGeom>
              <a:avLst/>
              <a:gdLst/>
              <a:ahLst/>
              <a:cxnLst/>
              <a:rect l="l" t="t" r="r" b="b"/>
              <a:pathLst>
                <a:path w="1353610" h="331309">
                  <a:moveTo>
                    <a:pt x="1150410" y="0"/>
                  </a:moveTo>
                  <a:lnTo>
                    <a:pt x="203200" y="0"/>
                  </a:lnTo>
                  <a:lnTo>
                    <a:pt x="0" y="165654"/>
                  </a:lnTo>
                  <a:lnTo>
                    <a:pt x="203200" y="331309"/>
                  </a:lnTo>
                  <a:lnTo>
                    <a:pt x="1150410" y="331309"/>
                  </a:lnTo>
                  <a:lnTo>
                    <a:pt x="1353610" y="165654"/>
                  </a:lnTo>
                  <a:lnTo>
                    <a:pt x="1150410" y="0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52400" y="-47625"/>
              <a:ext cx="1048810" cy="378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FACE NOT VISIBLE 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 rot="-5400000">
            <a:off x="11861791" y="3491090"/>
            <a:ext cx="9918466" cy="3022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53"/>
              </a:lnSpc>
            </a:pPr>
            <a:r>
              <a:rPr lang="en-US" sz="12130" b="1" spc="1940" dirty="0">
                <a:solidFill>
                  <a:srgbClr val="041226">
                    <a:alpha val="2745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Face Monitoring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361857" y="5173368"/>
            <a:ext cx="4828749" cy="1181881"/>
            <a:chOff x="0" y="0"/>
            <a:chExt cx="1353610" cy="3313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53610" cy="331309"/>
            </a:xfrm>
            <a:custGeom>
              <a:avLst/>
              <a:gdLst/>
              <a:ahLst/>
              <a:cxnLst/>
              <a:rect l="l" t="t" r="r" b="b"/>
              <a:pathLst>
                <a:path w="1353610" h="331309">
                  <a:moveTo>
                    <a:pt x="1150410" y="0"/>
                  </a:moveTo>
                  <a:lnTo>
                    <a:pt x="203200" y="0"/>
                  </a:lnTo>
                  <a:lnTo>
                    <a:pt x="0" y="165654"/>
                  </a:lnTo>
                  <a:lnTo>
                    <a:pt x="203200" y="331309"/>
                  </a:lnTo>
                  <a:lnTo>
                    <a:pt x="1150410" y="331309"/>
                  </a:lnTo>
                  <a:lnTo>
                    <a:pt x="1353610" y="165654"/>
                  </a:lnTo>
                  <a:lnTo>
                    <a:pt x="1150410" y="0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52400" y="-47625"/>
              <a:ext cx="1048810" cy="378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MulTIPLE FACES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97579" y="5143500"/>
            <a:ext cx="4828749" cy="1211749"/>
            <a:chOff x="0" y="0"/>
            <a:chExt cx="1353610" cy="3396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53610" cy="339681"/>
            </a:xfrm>
            <a:custGeom>
              <a:avLst/>
              <a:gdLst/>
              <a:ahLst/>
              <a:cxnLst/>
              <a:rect l="l" t="t" r="r" b="b"/>
              <a:pathLst>
                <a:path w="1353610" h="339681">
                  <a:moveTo>
                    <a:pt x="1150410" y="0"/>
                  </a:moveTo>
                  <a:lnTo>
                    <a:pt x="203200" y="0"/>
                  </a:lnTo>
                  <a:lnTo>
                    <a:pt x="0" y="169841"/>
                  </a:lnTo>
                  <a:lnTo>
                    <a:pt x="203200" y="339681"/>
                  </a:lnTo>
                  <a:lnTo>
                    <a:pt x="1150410" y="339681"/>
                  </a:lnTo>
                  <a:lnTo>
                    <a:pt x="1353610" y="169841"/>
                  </a:lnTo>
                  <a:lnTo>
                    <a:pt x="1150410" y="0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52400" y="-47625"/>
              <a:ext cx="1048810" cy="387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RAPID MOVEMENT 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892636" y="853000"/>
            <a:ext cx="1622779" cy="1622779"/>
          </a:xfrm>
          <a:custGeom>
            <a:avLst/>
            <a:gdLst/>
            <a:ahLst/>
            <a:cxnLst/>
            <a:rect l="l" t="t" r="r" b="b"/>
            <a:pathLst>
              <a:path w="1622779" h="1622779">
                <a:moveTo>
                  <a:pt x="0" y="0"/>
                </a:moveTo>
                <a:lnTo>
                  <a:pt x="1622779" y="0"/>
                </a:lnTo>
                <a:lnTo>
                  <a:pt x="1622779" y="1622779"/>
                </a:lnTo>
                <a:lnTo>
                  <a:pt x="0" y="16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848840" y="1048851"/>
            <a:ext cx="9043796" cy="1426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34"/>
              </a:lnSpc>
            </a:pPr>
            <a:r>
              <a:rPr lang="en-US" sz="8995" b="1" spc="71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Face Monitoring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899467"/>
            <a:ext cx="14292118" cy="8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18"/>
              </a:lnSpc>
            </a:pPr>
            <a:r>
              <a:rPr lang="en-US" sz="5300" b="1" spc="42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Objective      : </a:t>
            </a:r>
            <a:r>
              <a:rPr lang="en-US" sz="5300" spc="42">
                <a:solidFill>
                  <a:srgbClr val="7C7AAC"/>
                </a:solidFill>
                <a:latin typeface="Futura"/>
                <a:ea typeface="Futura"/>
                <a:cs typeface="Futura"/>
                <a:sym typeface="Futura"/>
              </a:rPr>
              <a:t>Ensure Valid Candidate Presence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3055" y="6565095"/>
            <a:ext cx="4280040" cy="54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7"/>
              </a:lnSpc>
            </a:pPr>
            <a:r>
              <a:rPr lang="en-US" sz="299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student leaves frame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36212" y="6565095"/>
            <a:ext cx="4280040" cy="54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7"/>
              </a:lnSpc>
            </a:pPr>
            <a:r>
              <a:rPr lang="en-US" sz="299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external help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97579" y="6565095"/>
            <a:ext cx="4700985" cy="54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7"/>
              </a:lnSpc>
            </a:pPr>
            <a:r>
              <a:rPr lang="en-US" sz="299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suspicious activity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771137"/>
            <a:ext cx="4554395" cy="85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24"/>
              </a:lnSpc>
            </a:pPr>
            <a:r>
              <a:rPr lang="en-US" sz="5400" b="1" spc="43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Detects         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7585350"/>
            <a:ext cx="4175260" cy="85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24"/>
              </a:lnSpc>
            </a:pPr>
            <a:r>
              <a:rPr lang="en-US" sz="5400" b="1" spc="43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Importance 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95882" y="7694062"/>
            <a:ext cx="14292118" cy="14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00"/>
              </a:lnSpc>
            </a:pPr>
            <a:r>
              <a:rPr lang="en-US" sz="5000" b="1" spc="40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Ensures continuous engagement Prevents collaboration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9FEE0E-D615-8BBB-239B-FA1ACC3AE5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605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 rot="-5400000">
            <a:off x="11326231" y="3381185"/>
            <a:ext cx="10287000" cy="3524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267"/>
              </a:lnSpc>
            </a:pPr>
            <a:r>
              <a:rPr lang="en-US" sz="14100" b="1" spc="2256">
                <a:solidFill>
                  <a:srgbClr val="041226">
                    <a:alpha val="2745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Problem Statement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16616526" y="875437"/>
            <a:ext cx="762362" cy="623231"/>
          </a:xfrm>
          <a:custGeom>
            <a:avLst/>
            <a:gdLst/>
            <a:ahLst/>
            <a:cxnLst/>
            <a:rect l="l" t="t" r="r" b="b"/>
            <a:pathLst>
              <a:path w="762362" h="623231">
                <a:moveTo>
                  <a:pt x="0" y="0"/>
                </a:moveTo>
                <a:lnTo>
                  <a:pt x="762361" y="0"/>
                </a:lnTo>
                <a:lnTo>
                  <a:pt x="762361" y="623231"/>
                </a:lnTo>
                <a:lnTo>
                  <a:pt x="0" y="623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8387" y="8917914"/>
            <a:ext cx="632670" cy="368530"/>
          </a:xfrm>
          <a:custGeom>
            <a:avLst/>
            <a:gdLst/>
            <a:ahLst/>
            <a:cxnLst/>
            <a:rect l="l" t="t" r="r" b="b"/>
            <a:pathLst>
              <a:path w="632670" h="368530">
                <a:moveTo>
                  <a:pt x="0" y="0"/>
                </a:moveTo>
                <a:lnTo>
                  <a:pt x="632670" y="0"/>
                </a:lnTo>
                <a:lnTo>
                  <a:pt x="632670" y="368530"/>
                </a:lnTo>
                <a:lnTo>
                  <a:pt x="0" y="368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35966" y="849241"/>
            <a:ext cx="1298855" cy="1298855"/>
          </a:xfrm>
          <a:custGeom>
            <a:avLst/>
            <a:gdLst/>
            <a:ahLst/>
            <a:cxnLst/>
            <a:rect l="l" t="t" r="r" b="b"/>
            <a:pathLst>
              <a:path w="1298855" h="1298855">
                <a:moveTo>
                  <a:pt x="0" y="0"/>
                </a:moveTo>
                <a:lnTo>
                  <a:pt x="1298855" y="0"/>
                </a:lnTo>
                <a:lnTo>
                  <a:pt x="1298855" y="1298855"/>
                </a:lnTo>
                <a:lnTo>
                  <a:pt x="0" y="1298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71392" y="3506516"/>
            <a:ext cx="12238857" cy="5502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2"/>
              </a:lnSpc>
            </a:pPr>
            <a:r>
              <a:rPr lang="en-US" sz="311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Multi-Threading is Needed ?</a:t>
            </a:r>
          </a:p>
          <a:p>
            <a:pPr algn="l">
              <a:lnSpc>
                <a:spcPts val="5482"/>
              </a:lnSpc>
            </a:pPr>
            <a:r>
              <a:rPr lang="en-US" sz="311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Because ,Different modules require high computation:</a:t>
            </a:r>
          </a:p>
          <a:p>
            <a:pPr marL="1345007" lvl="2" indent="-448336" algn="l">
              <a:lnSpc>
                <a:spcPts val="5482"/>
              </a:lnSpc>
              <a:buFont typeface="Arial"/>
              <a:buChar char="⚬"/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Face detection</a:t>
            </a:r>
          </a:p>
          <a:p>
            <a:pPr marL="1345007" lvl="2" indent="-448336" algn="l">
              <a:lnSpc>
                <a:spcPts val="5482"/>
              </a:lnSpc>
              <a:buFont typeface="Arial"/>
              <a:buChar char="⚬"/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Phone detection</a:t>
            </a:r>
          </a:p>
          <a:p>
            <a:pPr marL="1345007" lvl="2" indent="-448336" algn="l">
              <a:lnSpc>
                <a:spcPts val="5482"/>
              </a:lnSpc>
              <a:buFont typeface="Arial"/>
              <a:buChar char="⚬"/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Identity verification</a:t>
            </a:r>
          </a:p>
          <a:p>
            <a:pPr algn="l">
              <a:lnSpc>
                <a:spcPts val="5482"/>
              </a:lnSpc>
            </a:pPr>
            <a:r>
              <a:rPr lang="en-US" sz="311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Implementation:</a:t>
            </a:r>
          </a:p>
          <a:p>
            <a:pPr marL="672504" lvl="1" indent="-336252" algn="l">
              <a:lnSpc>
                <a:spcPts val="5482"/>
              </a:lnSpc>
              <a:buFont typeface="Arial"/>
              <a:buChar char="•"/>
            </a:pPr>
            <a:r>
              <a:rPr lang="en-US" sz="31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Each module runs in parallel threads</a:t>
            </a:r>
          </a:p>
          <a:p>
            <a:pPr algn="l">
              <a:lnSpc>
                <a:spcPts val="5482"/>
              </a:lnSpc>
            </a:pPr>
            <a:endParaRPr lang="en-US" sz="311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448137"/>
            <a:ext cx="10578152" cy="300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35"/>
              </a:lnSpc>
            </a:pPr>
            <a:r>
              <a:rPr lang="en-US" sz="10316" b="1" spc="82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Multi-Threaded Processing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C91AD7-1566-DABE-B6FC-E094354F1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7" y="4045"/>
            <a:ext cx="18281026" cy="102789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490475" y="390525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759821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1" y="0"/>
                </a:lnTo>
                <a:lnTo>
                  <a:pt x="759821" y="75015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87790" y="8891519"/>
            <a:ext cx="371510" cy="366781"/>
          </a:xfrm>
          <a:custGeom>
            <a:avLst/>
            <a:gdLst/>
            <a:ahLst/>
            <a:cxnLst/>
            <a:rect l="l" t="t" r="r" b="b"/>
            <a:pathLst>
              <a:path w="371510" h="366781">
                <a:moveTo>
                  <a:pt x="0" y="0"/>
                </a:moveTo>
                <a:lnTo>
                  <a:pt x="371510" y="0"/>
                </a:lnTo>
                <a:lnTo>
                  <a:pt x="37151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0422" y="655426"/>
            <a:ext cx="16888801" cy="163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110"/>
              </a:lnSpc>
            </a:pPr>
            <a:r>
              <a:rPr lang="en-US" sz="11621" b="1" spc="1859">
                <a:solidFill>
                  <a:srgbClr val="041226">
                    <a:alpha val="2745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IdentityVerification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854234" y="3600613"/>
            <a:ext cx="4552679" cy="5290905"/>
            <a:chOff x="0" y="0"/>
            <a:chExt cx="427277" cy="4965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7277" cy="496561"/>
            </a:xfrm>
            <a:custGeom>
              <a:avLst/>
              <a:gdLst/>
              <a:ahLst/>
              <a:cxnLst/>
              <a:rect l="l" t="t" r="r" b="b"/>
              <a:pathLst>
                <a:path w="427277" h="496561">
                  <a:moveTo>
                    <a:pt x="33213" y="0"/>
                  </a:moveTo>
                  <a:lnTo>
                    <a:pt x="394064" y="0"/>
                  </a:lnTo>
                  <a:cubicBezTo>
                    <a:pt x="412407" y="0"/>
                    <a:pt x="427277" y="14870"/>
                    <a:pt x="427277" y="33213"/>
                  </a:cubicBezTo>
                  <a:lnTo>
                    <a:pt x="427277" y="463348"/>
                  </a:lnTo>
                  <a:cubicBezTo>
                    <a:pt x="427277" y="472156"/>
                    <a:pt x="423778" y="480604"/>
                    <a:pt x="417549" y="486833"/>
                  </a:cubicBezTo>
                  <a:cubicBezTo>
                    <a:pt x="411320" y="493062"/>
                    <a:pt x="402872" y="496561"/>
                    <a:pt x="394064" y="496561"/>
                  </a:cubicBezTo>
                  <a:lnTo>
                    <a:pt x="33213" y="496561"/>
                  </a:lnTo>
                  <a:cubicBezTo>
                    <a:pt x="24405" y="496561"/>
                    <a:pt x="15957" y="493062"/>
                    <a:pt x="9728" y="486833"/>
                  </a:cubicBezTo>
                  <a:cubicBezTo>
                    <a:pt x="3499" y="480604"/>
                    <a:pt x="0" y="472156"/>
                    <a:pt x="0" y="463348"/>
                  </a:cubicBezTo>
                  <a:lnTo>
                    <a:pt x="0" y="33213"/>
                  </a:lnTo>
                  <a:cubicBezTo>
                    <a:pt x="0" y="24405"/>
                    <a:pt x="3499" y="15957"/>
                    <a:pt x="9728" y="9728"/>
                  </a:cubicBezTo>
                  <a:cubicBezTo>
                    <a:pt x="15957" y="3499"/>
                    <a:pt x="24405" y="0"/>
                    <a:pt x="33213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7277" cy="544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02732" y="3597903"/>
            <a:ext cx="4713729" cy="5293616"/>
            <a:chOff x="0" y="0"/>
            <a:chExt cx="442392" cy="49681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2392" cy="496815"/>
            </a:xfrm>
            <a:custGeom>
              <a:avLst/>
              <a:gdLst/>
              <a:ahLst/>
              <a:cxnLst/>
              <a:rect l="l" t="t" r="r" b="b"/>
              <a:pathLst>
                <a:path w="442392" h="496815">
                  <a:moveTo>
                    <a:pt x="32079" y="0"/>
                  </a:moveTo>
                  <a:lnTo>
                    <a:pt x="410313" y="0"/>
                  </a:lnTo>
                  <a:cubicBezTo>
                    <a:pt x="428030" y="0"/>
                    <a:pt x="442392" y="14362"/>
                    <a:pt x="442392" y="32079"/>
                  </a:cubicBezTo>
                  <a:lnTo>
                    <a:pt x="442392" y="464737"/>
                  </a:lnTo>
                  <a:cubicBezTo>
                    <a:pt x="442392" y="482453"/>
                    <a:pt x="428030" y="496815"/>
                    <a:pt x="410313" y="496815"/>
                  </a:cubicBezTo>
                  <a:lnTo>
                    <a:pt x="32079" y="496815"/>
                  </a:lnTo>
                  <a:cubicBezTo>
                    <a:pt x="23571" y="496815"/>
                    <a:pt x="15411" y="493436"/>
                    <a:pt x="9396" y="487420"/>
                  </a:cubicBezTo>
                  <a:cubicBezTo>
                    <a:pt x="3380" y="481404"/>
                    <a:pt x="0" y="473244"/>
                    <a:pt x="0" y="464737"/>
                  </a:cubicBezTo>
                  <a:lnTo>
                    <a:pt x="0" y="32079"/>
                  </a:lnTo>
                  <a:cubicBezTo>
                    <a:pt x="0" y="14362"/>
                    <a:pt x="14362" y="0"/>
                    <a:pt x="32079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42392" cy="544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828483" y="3597903"/>
            <a:ext cx="4552679" cy="5293616"/>
            <a:chOff x="0" y="0"/>
            <a:chExt cx="427277" cy="49681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7277" cy="496815"/>
            </a:xfrm>
            <a:custGeom>
              <a:avLst/>
              <a:gdLst/>
              <a:ahLst/>
              <a:cxnLst/>
              <a:rect l="l" t="t" r="r" b="b"/>
              <a:pathLst>
                <a:path w="427277" h="496815">
                  <a:moveTo>
                    <a:pt x="33213" y="0"/>
                  </a:moveTo>
                  <a:lnTo>
                    <a:pt x="394064" y="0"/>
                  </a:lnTo>
                  <a:cubicBezTo>
                    <a:pt x="412407" y="0"/>
                    <a:pt x="427277" y="14870"/>
                    <a:pt x="427277" y="33213"/>
                  </a:cubicBezTo>
                  <a:lnTo>
                    <a:pt x="427277" y="463602"/>
                  </a:lnTo>
                  <a:cubicBezTo>
                    <a:pt x="427277" y="472411"/>
                    <a:pt x="423778" y="480859"/>
                    <a:pt x="417549" y="487087"/>
                  </a:cubicBezTo>
                  <a:cubicBezTo>
                    <a:pt x="411320" y="493316"/>
                    <a:pt x="402872" y="496815"/>
                    <a:pt x="394064" y="496815"/>
                  </a:cubicBezTo>
                  <a:lnTo>
                    <a:pt x="33213" y="496815"/>
                  </a:lnTo>
                  <a:cubicBezTo>
                    <a:pt x="24405" y="496815"/>
                    <a:pt x="15957" y="493316"/>
                    <a:pt x="9728" y="487087"/>
                  </a:cubicBezTo>
                  <a:cubicBezTo>
                    <a:pt x="3499" y="480859"/>
                    <a:pt x="0" y="472411"/>
                    <a:pt x="0" y="463602"/>
                  </a:cubicBezTo>
                  <a:lnTo>
                    <a:pt x="0" y="33213"/>
                  </a:lnTo>
                  <a:cubicBezTo>
                    <a:pt x="0" y="24405"/>
                    <a:pt x="3499" y="15957"/>
                    <a:pt x="9728" y="9728"/>
                  </a:cubicBezTo>
                  <a:cubicBezTo>
                    <a:pt x="15957" y="3499"/>
                    <a:pt x="24405" y="0"/>
                    <a:pt x="33213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27277" cy="544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451168" y="1346626"/>
            <a:ext cx="11790923" cy="1642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69"/>
              </a:lnSpc>
            </a:pPr>
            <a:r>
              <a:rPr lang="en-US" sz="10442" b="1" spc="83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Identity Verification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5591" y="3971091"/>
            <a:ext cx="4089966" cy="442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7"/>
              </a:lnSpc>
            </a:pPr>
            <a:r>
              <a:rPr lang="en-US" sz="31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</a:t>
            </a:r>
          </a:p>
          <a:p>
            <a:pPr algn="ctr">
              <a:lnSpc>
                <a:spcPts val="5077"/>
              </a:lnSpc>
            </a:pPr>
            <a:endParaRPr lang="en-US" sz="3114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672504" lvl="1" indent="-336252" algn="l">
              <a:lnSpc>
                <a:spcPts val="5077"/>
              </a:lnSpc>
              <a:buFont typeface="Arial"/>
              <a:buChar char="•"/>
            </a:pPr>
            <a:r>
              <a:rPr lang="en-US" sz="31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Prevent Proxy</a:t>
            </a:r>
          </a:p>
          <a:p>
            <a:pPr marL="672504" lvl="1" indent="-336252" algn="l">
              <a:lnSpc>
                <a:spcPts val="5077"/>
              </a:lnSpc>
              <a:buFont typeface="Arial"/>
              <a:buChar char="•"/>
            </a:pPr>
            <a:r>
              <a:rPr lang="en-US" sz="31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Ensures same person throughout exam session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02732" y="3992851"/>
            <a:ext cx="4713729" cy="243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5"/>
              </a:lnSpc>
            </a:pPr>
            <a:r>
              <a:rPr lang="en-US" sz="281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Makes system robust to</a:t>
            </a:r>
          </a:p>
          <a:p>
            <a:pPr algn="ctr">
              <a:lnSpc>
                <a:spcPts val="5084"/>
              </a:lnSpc>
            </a:pPr>
            <a:endParaRPr lang="en-US" sz="281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5084"/>
              </a:lnSpc>
            </a:pPr>
            <a:endParaRPr lang="en-US" sz="281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5084"/>
              </a:lnSpc>
            </a:pPr>
            <a:endParaRPr lang="en-US" sz="2819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74598" y="3973801"/>
            <a:ext cx="4656659" cy="5059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7"/>
              </a:lnSpc>
            </a:pPr>
            <a:r>
              <a:rPr lang="en-US" sz="31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Idea</a:t>
            </a:r>
          </a:p>
          <a:p>
            <a:pPr algn="ctr">
              <a:lnSpc>
                <a:spcPts val="5077"/>
              </a:lnSpc>
            </a:pPr>
            <a:endParaRPr lang="en-US" sz="3114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672504" lvl="1" indent="-336252" algn="l">
              <a:lnSpc>
                <a:spcPts val="5077"/>
              </a:lnSpc>
              <a:buFont typeface="Arial"/>
              <a:buChar char="•"/>
            </a:pPr>
            <a:r>
              <a:rPr lang="en-US" sz="31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Faces are not compared directly</a:t>
            </a:r>
          </a:p>
          <a:p>
            <a:pPr marL="672504" lvl="1" indent="-336252" algn="l">
              <a:lnSpc>
                <a:spcPts val="5077"/>
              </a:lnSpc>
              <a:buFont typeface="Arial"/>
              <a:buChar char="•"/>
            </a:pPr>
            <a:r>
              <a:rPr lang="en-US" sz="311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Converted into numerical embeddings</a:t>
            </a:r>
          </a:p>
          <a:p>
            <a:pPr algn="ctr">
              <a:lnSpc>
                <a:spcPts val="5077"/>
              </a:lnSpc>
            </a:pPr>
            <a:endParaRPr lang="en-US" sz="3114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661813" y="5331901"/>
            <a:ext cx="4713729" cy="25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1450" lvl="1" indent="-335725" algn="l">
              <a:lnSpc>
                <a:spcPts val="5069"/>
              </a:lnSpc>
              <a:buFont typeface="Arial"/>
              <a:buChar char="•"/>
            </a:pPr>
            <a:r>
              <a:rPr lang="en-US" sz="31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Lighting changes</a:t>
            </a:r>
          </a:p>
          <a:p>
            <a:pPr marL="671450" lvl="1" indent="-335725" algn="l">
              <a:lnSpc>
                <a:spcPts val="5069"/>
              </a:lnSpc>
              <a:buFont typeface="Arial"/>
              <a:buChar char="•"/>
            </a:pPr>
            <a:r>
              <a:rPr lang="en-US" sz="31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Facial expressions</a:t>
            </a:r>
          </a:p>
          <a:p>
            <a:pPr marL="671450" lvl="1" indent="-335725" algn="l">
              <a:lnSpc>
                <a:spcPts val="5069"/>
              </a:lnSpc>
              <a:buFont typeface="Arial"/>
              <a:buChar char="•"/>
            </a:pPr>
            <a:r>
              <a:rPr lang="en-US" sz="31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Angle variations</a:t>
            </a:r>
          </a:p>
          <a:p>
            <a:pPr algn="l">
              <a:lnSpc>
                <a:spcPts val="5069"/>
              </a:lnSpc>
            </a:pPr>
            <a:endParaRPr lang="en-US" sz="311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1712EE-2BDC-6127-1C6A-710EDD254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 rot="-5400000">
            <a:off x="11326231" y="3381185"/>
            <a:ext cx="10287000" cy="3524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267"/>
              </a:lnSpc>
            </a:pPr>
            <a:r>
              <a:rPr lang="en-US" sz="14100" b="1" spc="2256">
                <a:solidFill>
                  <a:srgbClr val="041226">
                    <a:alpha val="2745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Technical Details</a:t>
            </a:r>
          </a:p>
        </p:txBody>
      </p:sp>
      <p:sp>
        <p:nvSpPr>
          <p:cNvPr id="4" name="Freeform 4"/>
          <p:cNvSpPr/>
          <p:nvPr/>
        </p:nvSpPr>
        <p:spPr>
          <a:xfrm>
            <a:off x="16616526" y="875437"/>
            <a:ext cx="762362" cy="623231"/>
          </a:xfrm>
          <a:custGeom>
            <a:avLst/>
            <a:gdLst/>
            <a:ahLst/>
            <a:cxnLst/>
            <a:rect l="l" t="t" r="r" b="b"/>
            <a:pathLst>
              <a:path w="762362" h="623231">
                <a:moveTo>
                  <a:pt x="0" y="0"/>
                </a:moveTo>
                <a:lnTo>
                  <a:pt x="762361" y="0"/>
                </a:lnTo>
                <a:lnTo>
                  <a:pt x="762361" y="623231"/>
                </a:lnTo>
                <a:lnTo>
                  <a:pt x="0" y="623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8387" y="8917914"/>
            <a:ext cx="632670" cy="368530"/>
          </a:xfrm>
          <a:custGeom>
            <a:avLst/>
            <a:gdLst/>
            <a:ahLst/>
            <a:cxnLst/>
            <a:rect l="l" t="t" r="r" b="b"/>
            <a:pathLst>
              <a:path w="632670" h="368530">
                <a:moveTo>
                  <a:pt x="0" y="0"/>
                </a:moveTo>
                <a:lnTo>
                  <a:pt x="632670" y="0"/>
                </a:lnTo>
                <a:lnTo>
                  <a:pt x="632670" y="368530"/>
                </a:lnTo>
                <a:lnTo>
                  <a:pt x="0" y="368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97109" y="2034094"/>
            <a:ext cx="12238857" cy="79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Uses</a:t>
            </a:r>
            <a:r>
              <a:rPr lang="en-US" sz="301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DeepFace / FaceNet </a:t>
            </a: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</a:p>
          <a:p>
            <a:pPr algn="l">
              <a:lnSpc>
                <a:spcPts val="5482"/>
              </a:lnSpc>
            </a:pPr>
            <a:r>
              <a:rPr lang="en-US" sz="311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Process:</a:t>
            </a:r>
          </a:p>
          <a:p>
            <a:pPr algn="l">
              <a:lnSpc>
                <a:spcPts val="5306"/>
              </a:lnSpc>
            </a:pPr>
            <a:r>
              <a:rPr lang="en-US" sz="301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1: </a:t>
            </a: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Registration</a:t>
            </a:r>
          </a:p>
          <a:p>
            <a:pPr marL="650914" lvl="1" indent="-325457" algn="l">
              <a:lnSpc>
                <a:spcPts val="5306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First 30 frames captured</a:t>
            </a:r>
          </a:p>
          <a:p>
            <a:pPr marL="650914" lvl="1" indent="-325457" algn="l">
              <a:lnSpc>
                <a:spcPts val="5306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Embeddings generated</a:t>
            </a:r>
          </a:p>
          <a:p>
            <a:pPr marL="650914" lvl="1" indent="-325457" algn="l">
              <a:lnSpc>
                <a:spcPts val="5306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Averaged → Reference Profile</a:t>
            </a:r>
          </a:p>
          <a:p>
            <a:pPr algn="l">
              <a:lnSpc>
                <a:spcPts val="5306"/>
              </a:lnSpc>
            </a:pPr>
            <a:r>
              <a:rPr lang="en-US" sz="301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2: </a:t>
            </a: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Verification</a:t>
            </a:r>
          </a:p>
          <a:p>
            <a:pPr marL="650914" lvl="1" indent="-325457" algn="l">
              <a:lnSpc>
                <a:spcPts val="5306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New embeddings generated continuously</a:t>
            </a:r>
          </a:p>
          <a:p>
            <a:pPr algn="l">
              <a:lnSpc>
                <a:spcPts val="5306"/>
              </a:lnSpc>
            </a:pPr>
            <a:r>
              <a:rPr lang="en-US" sz="301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Comparison:</a:t>
            </a:r>
          </a:p>
          <a:p>
            <a:pPr marL="650914" lvl="1" indent="-325457" algn="l">
              <a:lnSpc>
                <a:spcPts val="5306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Uses Cosine SimilarityHigh similarity → same person</a:t>
            </a:r>
          </a:p>
          <a:p>
            <a:pPr marL="650914" lvl="1" indent="-325457" algn="l">
              <a:lnSpc>
                <a:spcPts val="5306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Low similarity → proxy detected </a:t>
            </a:r>
          </a:p>
          <a:p>
            <a:pPr algn="l">
              <a:lnSpc>
                <a:spcPts val="5306"/>
              </a:lnSpc>
            </a:pPr>
            <a:endParaRPr lang="en-US" sz="301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4722" y="441323"/>
            <a:ext cx="15189285" cy="142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8"/>
              </a:lnSpc>
            </a:pPr>
            <a:r>
              <a:rPr lang="en-US" sz="9017" b="1" spc="72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 Identity – Technical Details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DB89C5-1B81-B75C-3AF5-D846FA4B0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58594" y="3469454"/>
            <a:ext cx="4354370" cy="5359035"/>
            <a:chOff x="0" y="0"/>
            <a:chExt cx="812800" cy="10003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000334"/>
            </a:xfrm>
            <a:custGeom>
              <a:avLst/>
              <a:gdLst/>
              <a:ahLst/>
              <a:cxnLst/>
              <a:rect l="l" t="t" r="r" b="b"/>
              <a:pathLst>
                <a:path w="812800" h="1000334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873334"/>
                  </a:lnTo>
                  <a:cubicBezTo>
                    <a:pt x="812800" y="907016"/>
                    <a:pt x="799420" y="939319"/>
                    <a:pt x="775603" y="963136"/>
                  </a:cubicBezTo>
                  <a:cubicBezTo>
                    <a:pt x="751785" y="986954"/>
                    <a:pt x="719482" y="1000334"/>
                    <a:pt x="685800" y="1000334"/>
                  </a:cubicBezTo>
                  <a:lnTo>
                    <a:pt x="127000" y="1000334"/>
                  </a:lnTo>
                  <a:cubicBezTo>
                    <a:pt x="56860" y="1000334"/>
                    <a:pt x="0" y="943474"/>
                    <a:pt x="0" y="873334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1047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l">
                <a:lnSpc>
                  <a:spcPts val="4652"/>
                </a:lnSpc>
              </a:pPr>
              <a:r>
                <a:rPr lang="en-US" sz="2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l">
                <a:lnSpc>
                  <a:spcPts val="4652"/>
                </a:lnSpc>
              </a:pPr>
              <a:endPara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345799" y="3469454"/>
            <a:ext cx="4354370" cy="5359035"/>
            <a:chOff x="0" y="0"/>
            <a:chExt cx="812800" cy="10003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00334"/>
            </a:xfrm>
            <a:custGeom>
              <a:avLst/>
              <a:gdLst/>
              <a:ahLst/>
              <a:cxnLst/>
              <a:rect l="l" t="t" r="r" b="b"/>
              <a:pathLst>
                <a:path w="812800" h="1000334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873334"/>
                  </a:lnTo>
                  <a:cubicBezTo>
                    <a:pt x="812800" y="907016"/>
                    <a:pt x="799420" y="939319"/>
                    <a:pt x="775603" y="963136"/>
                  </a:cubicBezTo>
                  <a:cubicBezTo>
                    <a:pt x="751785" y="986954"/>
                    <a:pt x="719482" y="1000334"/>
                    <a:pt x="685800" y="1000334"/>
                  </a:cubicBezTo>
                  <a:lnTo>
                    <a:pt x="127000" y="1000334"/>
                  </a:lnTo>
                  <a:cubicBezTo>
                    <a:pt x="56860" y="1000334"/>
                    <a:pt x="0" y="943474"/>
                    <a:pt x="0" y="873334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1047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1122331" lvl="2" indent="-374110" algn="ctr">
                <a:lnSpc>
                  <a:spcPts val="3638"/>
                </a:lnSpc>
                <a:buFont typeface="Arial"/>
                <a:buChar char="⚬"/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ctr">
                <a:lnSpc>
                  <a:spcPts val="3638"/>
                </a:lnSpc>
              </a:pPr>
              <a:endParaRPr/>
            </a:p>
            <a:p>
              <a:pPr algn="l">
                <a:lnSpc>
                  <a:spcPts val="3638"/>
                </a:lnSpc>
              </a:pPr>
              <a:endParaRPr/>
            </a:p>
            <a:p>
              <a:pPr algn="l">
                <a:lnSpc>
                  <a:spcPts val="4574"/>
                </a:lnSpc>
              </a:pPr>
              <a:r>
                <a:rPr lang="en-US" sz="2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l">
                <a:lnSpc>
                  <a:spcPts val="4574"/>
                </a:lnSpc>
              </a:pPr>
              <a:endPara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4574"/>
                </a:lnSpc>
              </a:pPr>
              <a:endPara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933003" y="3469454"/>
            <a:ext cx="4354370" cy="5359035"/>
            <a:chOff x="0" y="0"/>
            <a:chExt cx="812800" cy="10003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00334"/>
            </a:xfrm>
            <a:custGeom>
              <a:avLst/>
              <a:gdLst/>
              <a:ahLst/>
              <a:cxnLst/>
              <a:rect l="l" t="t" r="r" b="b"/>
              <a:pathLst>
                <a:path w="812800" h="1000334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873334"/>
                  </a:lnTo>
                  <a:cubicBezTo>
                    <a:pt x="812800" y="907016"/>
                    <a:pt x="799420" y="939319"/>
                    <a:pt x="775603" y="963136"/>
                  </a:cubicBezTo>
                  <a:cubicBezTo>
                    <a:pt x="751785" y="986954"/>
                    <a:pt x="719482" y="1000334"/>
                    <a:pt x="685800" y="1000334"/>
                  </a:cubicBezTo>
                  <a:lnTo>
                    <a:pt x="127000" y="1000334"/>
                  </a:lnTo>
                  <a:cubicBezTo>
                    <a:pt x="56860" y="1000334"/>
                    <a:pt x="0" y="943474"/>
                    <a:pt x="0" y="873334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1047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l">
                <a:lnSpc>
                  <a:spcPts val="4574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l">
                <a:lnSpc>
                  <a:spcPts val="4574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4502" y="854889"/>
            <a:ext cx="16976964" cy="2028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56"/>
              </a:lnSpc>
            </a:pPr>
            <a:r>
              <a:rPr lang="en-US" sz="14547" b="1" spc="2327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PhoneDetection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63852" y="799494"/>
            <a:ext cx="11118263" cy="189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734"/>
              </a:lnSpc>
            </a:pPr>
            <a:r>
              <a:rPr lang="en-US" sz="12013" b="1" spc="96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Phone Detection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893" y="4957819"/>
            <a:ext cx="4358480" cy="285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6681" lvl="1" indent="-303341" algn="l">
              <a:lnSpc>
                <a:spcPts val="4580"/>
              </a:lnSpc>
              <a:buFont typeface="Arial"/>
              <a:buChar char="•"/>
            </a:pPr>
            <a:r>
              <a:rPr lang="en-US" sz="28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Reduces false positives</a:t>
            </a:r>
          </a:p>
          <a:p>
            <a:pPr marL="606681" lvl="1" indent="-303341" algn="l">
              <a:lnSpc>
                <a:spcPts val="4580"/>
              </a:lnSpc>
              <a:buFont typeface="Arial"/>
              <a:buChar char="•"/>
            </a:pPr>
            <a:r>
              <a:rPr lang="en-US" sz="28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Ignores irrelevant background objects</a:t>
            </a:r>
          </a:p>
          <a:p>
            <a:pPr algn="l">
              <a:lnSpc>
                <a:spcPts val="4580"/>
              </a:lnSpc>
            </a:pPr>
            <a:endParaRPr lang="en-US" sz="281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45799" y="5090087"/>
            <a:ext cx="4354370" cy="286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4563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Distance from face</a:t>
            </a:r>
          </a:p>
          <a:p>
            <a:pPr marL="604518" lvl="1" indent="-302259" algn="l">
              <a:lnSpc>
                <a:spcPts val="4563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Bounding box size</a:t>
            </a:r>
          </a:p>
          <a:p>
            <a:pPr marL="604518" lvl="1" indent="-302259" algn="l">
              <a:lnSpc>
                <a:spcPts val="4563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Context-based filtering</a:t>
            </a:r>
          </a:p>
          <a:p>
            <a:pPr algn="l">
              <a:lnSpc>
                <a:spcPts val="5069"/>
              </a:lnSpc>
            </a:pPr>
            <a:endParaRPr lang="en-US" sz="27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17828" y="5223122"/>
            <a:ext cx="4348195" cy="2604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1913" lvl="1" indent="-270956" algn="l">
              <a:lnSpc>
                <a:spcPts val="4091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Uses Dual YOLO Model </a:t>
            </a:r>
          </a:p>
          <a:p>
            <a:pPr algn="l">
              <a:lnSpc>
                <a:spcPts val="4091"/>
              </a:lnSpc>
            </a:pPr>
            <a:r>
              <a:rPr lang="en-US" sz="251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Approach:</a:t>
            </a:r>
          </a:p>
          <a:p>
            <a:pPr marL="541913" lvl="1" indent="-270956" algn="l">
              <a:lnSpc>
                <a:spcPts val="4091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Custom trained model</a:t>
            </a:r>
          </a:p>
          <a:p>
            <a:pPr marL="541913" lvl="1" indent="-270956" algn="l">
              <a:lnSpc>
                <a:spcPts val="4091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YOLOv8 base model</a:t>
            </a:r>
          </a:p>
          <a:p>
            <a:pPr algn="l">
              <a:lnSpc>
                <a:spcPts val="4743"/>
              </a:lnSpc>
            </a:pPr>
            <a:endParaRPr lang="en-US" sz="251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925543" y="3920077"/>
            <a:ext cx="4361830" cy="591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311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Advantage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45799" y="3920077"/>
            <a:ext cx="4354370" cy="591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311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Filtering Techniques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58594" y="3938603"/>
            <a:ext cx="4357720" cy="573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3"/>
              </a:lnSpc>
            </a:pPr>
            <a:r>
              <a:rPr lang="en-US" sz="299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ECC7F6-2AEA-C6D3-3D4B-9D39F6D4C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 rot="-5400000">
            <a:off x="10438062" y="2525131"/>
            <a:ext cx="10287000" cy="523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612"/>
              </a:lnSpc>
            </a:pPr>
            <a:r>
              <a:rPr lang="en-US" sz="14497" b="1" spc="2319">
                <a:solidFill>
                  <a:srgbClr val="041226">
                    <a:alpha val="2745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Suspicion Scoring Engine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390186" y="1028700"/>
            <a:ext cx="5109293" cy="2582818"/>
            <a:chOff x="0" y="0"/>
            <a:chExt cx="1345657" cy="6802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5657" cy="680248"/>
            </a:xfrm>
            <a:custGeom>
              <a:avLst/>
              <a:gdLst/>
              <a:ahLst/>
              <a:cxnLst/>
              <a:rect l="l" t="t" r="r" b="b"/>
              <a:pathLst>
                <a:path w="1345657" h="680248">
                  <a:moveTo>
                    <a:pt x="77278" y="0"/>
                  </a:moveTo>
                  <a:lnTo>
                    <a:pt x="1268379" y="0"/>
                  </a:lnTo>
                  <a:cubicBezTo>
                    <a:pt x="1311059" y="0"/>
                    <a:pt x="1345657" y="34599"/>
                    <a:pt x="1345657" y="77278"/>
                  </a:cubicBezTo>
                  <a:lnTo>
                    <a:pt x="1345657" y="602970"/>
                  </a:lnTo>
                  <a:cubicBezTo>
                    <a:pt x="1345657" y="623466"/>
                    <a:pt x="1337515" y="643122"/>
                    <a:pt x="1323023" y="657614"/>
                  </a:cubicBezTo>
                  <a:cubicBezTo>
                    <a:pt x="1308530" y="672107"/>
                    <a:pt x="1288874" y="680248"/>
                    <a:pt x="1268379" y="680248"/>
                  </a:cubicBezTo>
                  <a:lnTo>
                    <a:pt x="77278" y="680248"/>
                  </a:lnTo>
                  <a:cubicBezTo>
                    <a:pt x="34599" y="680248"/>
                    <a:pt x="0" y="645650"/>
                    <a:pt x="0" y="602970"/>
                  </a:cubicBezTo>
                  <a:lnTo>
                    <a:pt x="0" y="77278"/>
                  </a:lnTo>
                  <a:cubicBezTo>
                    <a:pt x="0" y="34599"/>
                    <a:pt x="34599" y="0"/>
                    <a:pt x="77278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345657" cy="727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WEIGHTED SCORING</a:t>
              </a: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390186" y="4039043"/>
            <a:ext cx="5109293" cy="2582818"/>
            <a:chOff x="0" y="0"/>
            <a:chExt cx="1345657" cy="680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45657" cy="680248"/>
            </a:xfrm>
            <a:custGeom>
              <a:avLst/>
              <a:gdLst/>
              <a:ahLst/>
              <a:cxnLst/>
              <a:rect l="l" t="t" r="r" b="b"/>
              <a:pathLst>
                <a:path w="1345657" h="680248">
                  <a:moveTo>
                    <a:pt x="77278" y="0"/>
                  </a:moveTo>
                  <a:lnTo>
                    <a:pt x="1268379" y="0"/>
                  </a:lnTo>
                  <a:cubicBezTo>
                    <a:pt x="1311059" y="0"/>
                    <a:pt x="1345657" y="34599"/>
                    <a:pt x="1345657" y="77278"/>
                  </a:cubicBezTo>
                  <a:lnTo>
                    <a:pt x="1345657" y="602970"/>
                  </a:lnTo>
                  <a:cubicBezTo>
                    <a:pt x="1345657" y="623466"/>
                    <a:pt x="1337515" y="643122"/>
                    <a:pt x="1323023" y="657614"/>
                  </a:cubicBezTo>
                  <a:cubicBezTo>
                    <a:pt x="1308530" y="672107"/>
                    <a:pt x="1288874" y="680248"/>
                    <a:pt x="1268379" y="680248"/>
                  </a:cubicBezTo>
                  <a:lnTo>
                    <a:pt x="77278" y="680248"/>
                  </a:lnTo>
                  <a:cubicBezTo>
                    <a:pt x="34599" y="680248"/>
                    <a:pt x="0" y="645650"/>
                    <a:pt x="0" y="602970"/>
                  </a:cubicBezTo>
                  <a:lnTo>
                    <a:pt x="0" y="77278"/>
                  </a:lnTo>
                  <a:cubicBezTo>
                    <a:pt x="0" y="34599"/>
                    <a:pt x="34599" y="0"/>
                    <a:pt x="77278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345657" cy="727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TEMPORAL LOGIC</a:t>
              </a: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90186" y="7049386"/>
            <a:ext cx="5109293" cy="2582818"/>
            <a:chOff x="0" y="0"/>
            <a:chExt cx="1345657" cy="6802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5657" cy="680248"/>
            </a:xfrm>
            <a:custGeom>
              <a:avLst/>
              <a:gdLst/>
              <a:ahLst/>
              <a:cxnLst/>
              <a:rect l="l" t="t" r="r" b="b"/>
              <a:pathLst>
                <a:path w="1345657" h="680248">
                  <a:moveTo>
                    <a:pt x="77278" y="0"/>
                  </a:moveTo>
                  <a:lnTo>
                    <a:pt x="1268379" y="0"/>
                  </a:lnTo>
                  <a:cubicBezTo>
                    <a:pt x="1311059" y="0"/>
                    <a:pt x="1345657" y="34599"/>
                    <a:pt x="1345657" y="77278"/>
                  </a:cubicBezTo>
                  <a:lnTo>
                    <a:pt x="1345657" y="602970"/>
                  </a:lnTo>
                  <a:cubicBezTo>
                    <a:pt x="1345657" y="623466"/>
                    <a:pt x="1337515" y="643122"/>
                    <a:pt x="1323023" y="657614"/>
                  </a:cubicBezTo>
                  <a:cubicBezTo>
                    <a:pt x="1308530" y="672107"/>
                    <a:pt x="1288874" y="680248"/>
                    <a:pt x="1268379" y="680248"/>
                  </a:cubicBezTo>
                  <a:lnTo>
                    <a:pt x="77278" y="680248"/>
                  </a:lnTo>
                  <a:cubicBezTo>
                    <a:pt x="34599" y="680248"/>
                    <a:pt x="0" y="645650"/>
                    <a:pt x="0" y="602970"/>
                  </a:cubicBezTo>
                  <a:lnTo>
                    <a:pt x="0" y="77278"/>
                  </a:lnTo>
                  <a:cubicBezTo>
                    <a:pt x="0" y="34599"/>
                    <a:pt x="34599" y="0"/>
                    <a:pt x="77278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345657" cy="727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THRESHOLDS</a:t>
              </a: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30669" y="854166"/>
            <a:ext cx="8967650" cy="291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21"/>
              </a:lnSpc>
            </a:pPr>
            <a:r>
              <a:rPr lang="en-US" sz="9926" b="1" spc="79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Suspicion Scoring Engine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40868" y="4565572"/>
            <a:ext cx="7999342" cy="5093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0"/>
              </a:lnSpc>
            </a:pPr>
            <a:r>
              <a:rPr lang="en-US" sz="3183" b="1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Concept:</a:t>
            </a:r>
          </a:p>
          <a:p>
            <a:pPr algn="l">
              <a:lnSpc>
                <a:spcPts val="5030"/>
              </a:lnSpc>
            </a:pPr>
            <a:r>
              <a:rPr lang="en-US" sz="3183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Not all actions are equally suspicious</a:t>
            </a:r>
          </a:p>
          <a:p>
            <a:pPr algn="l">
              <a:lnSpc>
                <a:spcPts val="5030"/>
              </a:lnSpc>
            </a:pPr>
            <a:r>
              <a:rPr lang="en-US" sz="3183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so we use</a:t>
            </a:r>
          </a:p>
          <a:p>
            <a:pPr algn="l">
              <a:lnSpc>
                <a:spcPts val="5030"/>
              </a:lnSpc>
            </a:pPr>
            <a:r>
              <a:rPr lang="en-US" sz="3183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  1. Weighted Scoring</a:t>
            </a:r>
          </a:p>
          <a:p>
            <a:pPr algn="l">
              <a:lnSpc>
                <a:spcPts val="5030"/>
              </a:lnSpc>
            </a:pPr>
            <a:r>
              <a:rPr lang="en-US" sz="3183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  2. Temporal Logic</a:t>
            </a:r>
          </a:p>
          <a:p>
            <a:pPr algn="l">
              <a:lnSpc>
                <a:spcPts val="5030"/>
              </a:lnSpc>
            </a:pPr>
            <a:r>
              <a:rPr lang="en-US" sz="3183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  3. Thresholds:</a:t>
            </a:r>
          </a:p>
          <a:p>
            <a:pPr algn="l">
              <a:lnSpc>
                <a:spcPts val="5030"/>
              </a:lnSpc>
            </a:pPr>
            <a:endParaRPr lang="en-US" sz="3183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5539"/>
              </a:lnSpc>
            </a:pPr>
            <a:endParaRPr lang="en-US" sz="3183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562155" y="1574531"/>
            <a:ext cx="4336088" cy="203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395" lvl="1" indent="-271198" algn="l">
              <a:lnSpc>
                <a:spcPts val="4094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Looking away → +2</a:t>
            </a:r>
          </a:p>
          <a:p>
            <a:pPr marL="542395" lvl="1" indent="-271198" algn="l">
              <a:lnSpc>
                <a:spcPts val="4094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Multiple faces → +8</a:t>
            </a:r>
          </a:p>
          <a:p>
            <a:pPr marL="542395" lvl="1" indent="-271198" algn="l">
              <a:lnSpc>
                <a:spcPts val="4094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Phone detection → +10</a:t>
            </a:r>
          </a:p>
          <a:p>
            <a:pPr algn="l">
              <a:lnSpc>
                <a:spcPts val="4094"/>
              </a:lnSpc>
            </a:pPr>
            <a:endParaRPr lang="en-US" sz="251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562155" y="4880646"/>
            <a:ext cx="4668419" cy="157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873" lvl="1" indent="-280936" algn="l">
              <a:lnSpc>
                <a:spcPts val="4242"/>
              </a:lnSpc>
              <a:buFont typeface="Arial"/>
              <a:buChar char="•"/>
            </a:pPr>
            <a:r>
              <a:rPr lang="en-US" sz="26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Uses Exponential Decay</a:t>
            </a:r>
          </a:p>
          <a:p>
            <a:pPr marL="561873" lvl="1" indent="-280936" algn="l">
              <a:lnSpc>
                <a:spcPts val="4242"/>
              </a:lnSpc>
              <a:buFont typeface="Arial"/>
              <a:buChar char="•"/>
            </a:pPr>
            <a:r>
              <a:rPr lang="en-US" sz="26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Score reduces over time</a:t>
            </a:r>
          </a:p>
          <a:p>
            <a:pPr algn="l">
              <a:lnSpc>
                <a:spcPts val="4242"/>
              </a:lnSpc>
            </a:pPr>
            <a:endParaRPr lang="en-US" sz="260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850502" y="7736286"/>
            <a:ext cx="4188660" cy="1468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3954" lvl="1" indent="-261977" algn="l">
              <a:lnSpc>
                <a:spcPts val="3955"/>
              </a:lnSpc>
              <a:buFont typeface="Arial"/>
              <a:buChar char="•"/>
            </a:pPr>
            <a:r>
              <a:rPr lang="en-US" sz="24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Warning Level </a:t>
            </a:r>
          </a:p>
          <a:p>
            <a:pPr marL="523954" lvl="1" indent="-261977" algn="l">
              <a:lnSpc>
                <a:spcPts val="3955"/>
              </a:lnSpc>
              <a:buFont typeface="Arial"/>
              <a:buChar char="•"/>
            </a:pPr>
            <a:r>
              <a:rPr lang="en-US" sz="242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Alert Level</a:t>
            </a:r>
          </a:p>
          <a:p>
            <a:pPr algn="l">
              <a:lnSpc>
                <a:spcPts val="3955"/>
              </a:lnSpc>
            </a:pPr>
            <a:endParaRPr lang="en-US" sz="2426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01B33D-54C8-8D6F-E574-173765E60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28700" y="1028700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759822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2" y="0"/>
                </a:lnTo>
                <a:lnTo>
                  <a:pt x="759822" y="75015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678595" y="3337191"/>
            <a:ext cx="3929538" cy="3155069"/>
            <a:chOff x="0" y="0"/>
            <a:chExt cx="5239384" cy="420675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5239384" cy="4206759"/>
              <a:chOff x="0" y="0"/>
              <a:chExt cx="1188265" cy="95407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188265" cy="954071"/>
              </a:xfrm>
              <a:custGeom>
                <a:avLst/>
                <a:gdLst/>
                <a:ahLst/>
                <a:cxnLst/>
                <a:rect l="l" t="t" r="r" b="b"/>
                <a:pathLst>
                  <a:path w="1188265" h="954071">
                    <a:moveTo>
                      <a:pt x="87514" y="0"/>
                    </a:moveTo>
                    <a:lnTo>
                      <a:pt x="1100750" y="0"/>
                    </a:lnTo>
                    <a:cubicBezTo>
                      <a:pt x="1123960" y="0"/>
                      <a:pt x="1146220" y="9220"/>
                      <a:pt x="1162632" y="25632"/>
                    </a:cubicBezTo>
                    <a:cubicBezTo>
                      <a:pt x="1179044" y="42044"/>
                      <a:pt x="1188265" y="64304"/>
                      <a:pt x="1188265" y="87514"/>
                    </a:cubicBezTo>
                    <a:lnTo>
                      <a:pt x="1188265" y="866556"/>
                    </a:lnTo>
                    <a:cubicBezTo>
                      <a:pt x="1188265" y="889767"/>
                      <a:pt x="1179044" y="912026"/>
                      <a:pt x="1162632" y="928438"/>
                    </a:cubicBezTo>
                    <a:cubicBezTo>
                      <a:pt x="1146220" y="944850"/>
                      <a:pt x="1123960" y="954071"/>
                      <a:pt x="1100750" y="954071"/>
                    </a:cubicBezTo>
                    <a:lnTo>
                      <a:pt x="87514" y="954071"/>
                    </a:lnTo>
                    <a:cubicBezTo>
                      <a:pt x="64304" y="954071"/>
                      <a:pt x="42044" y="944850"/>
                      <a:pt x="25632" y="928438"/>
                    </a:cubicBezTo>
                    <a:cubicBezTo>
                      <a:pt x="9220" y="912026"/>
                      <a:pt x="0" y="889767"/>
                      <a:pt x="0" y="866556"/>
                    </a:cubicBezTo>
                    <a:lnTo>
                      <a:pt x="0" y="87514"/>
                    </a:lnTo>
                    <a:cubicBezTo>
                      <a:pt x="0" y="64304"/>
                      <a:pt x="9220" y="42044"/>
                      <a:pt x="25632" y="25632"/>
                    </a:cubicBezTo>
                    <a:cubicBezTo>
                      <a:pt x="42044" y="9220"/>
                      <a:pt x="64304" y="0"/>
                      <a:pt x="87514" y="0"/>
                    </a:cubicBezTo>
                    <a:close/>
                  </a:path>
                </a:pathLst>
              </a:custGeom>
              <a:solidFill>
                <a:srgbClr val="7C7AAC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1188265" cy="10016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8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570001" y="913243"/>
              <a:ext cx="4099382" cy="2332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83"/>
                </a:lnSpc>
                <a:spcBef>
                  <a:spcPct val="0"/>
                </a:spcBef>
              </a:pPr>
              <a:r>
                <a:rPr lang="en-US" sz="284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FRONTEND</a:t>
              </a:r>
            </a:p>
            <a:p>
              <a:pPr marL="522109" lvl="1" indent="-261055" algn="l">
                <a:lnSpc>
                  <a:spcPts val="338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1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HTML</a:t>
              </a:r>
            </a:p>
            <a:p>
              <a:pPr marL="522109" lvl="1" indent="-261055" algn="l">
                <a:lnSpc>
                  <a:spcPts val="3385"/>
                </a:lnSpc>
                <a:buFont typeface="Arial"/>
                <a:buChar char="•"/>
              </a:pPr>
              <a:r>
                <a:rPr lang="en-US" sz="241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CSS</a:t>
              </a:r>
            </a:p>
            <a:p>
              <a:pPr marL="522109" lvl="1" indent="-261055" algn="l">
                <a:lnSpc>
                  <a:spcPts val="3385"/>
                </a:lnSpc>
                <a:buFont typeface="Arial"/>
                <a:buChar char="•"/>
              </a:pPr>
              <a:r>
                <a:rPr lang="en-US" sz="241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JavaScript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43364" y="6843178"/>
            <a:ext cx="4072532" cy="3086100"/>
            <a:chOff x="0" y="0"/>
            <a:chExt cx="5430043" cy="41148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5430043" cy="4114800"/>
              <a:chOff x="0" y="0"/>
              <a:chExt cx="1072601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72601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072601" h="812800">
                    <a:moveTo>
                      <a:pt x="96951" y="0"/>
                    </a:moveTo>
                    <a:lnTo>
                      <a:pt x="975650" y="0"/>
                    </a:lnTo>
                    <a:cubicBezTo>
                      <a:pt x="1001363" y="0"/>
                      <a:pt x="1026023" y="10214"/>
                      <a:pt x="1044205" y="28396"/>
                    </a:cubicBezTo>
                    <a:cubicBezTo>
                      <a:pt x="1062387" y="46578"/>
                      <a:pt x="1072601" y="71238"/>
                      <a:pt x="1072601" y="96951"/>
                    </a:cubicBezTo>
                    <a:lnTo>
                      <a:pt x="1072601" y="715849"/>
                    </a:lnTo>
                    <a:cubicBezTo>
                      <a:pt x="1072601" y="741562"/>
                      <a:pt x="1062387" y="766222"/>
                      <a:pt x="1044205" y="784404"/>
                    </a:cubicBezTo>
                    <a:cubicBezTo>
                      <a:pt x="1026023" y="802586"/>
                      <a:pt x="1001363" y="812800"/>
                      <a:pt x="975650" y="812800"/>
                    </a:cubicBezTo>
                    <a:lnTo>
                      <a:pt x="96951" y="812800"/>
                    </a:lnTo>
                    <a:cubicBezTo>
                      <a:pt x="71238" y="812800"/>
                      <a:pt x="46578" y="802586"/>
                      <a:pt x="28396" y="784404"/>
                    </a:cubicBezTo>
                    <a:cubicBezTo>
                      <a:pt x="10214" y="766222"/>
                      <a:pt x="0" y="741562"/>
                      <a:pt x="0" y="715849"/>
                    </a:cubicBezTo>
                    <a:lnTo>
                      <a:pt x="0" y="96951"/>
                    </a:lnTo>
                    <a:cubicBezTo>
                      <a:pt x="0" y="71238"/>
                      <a:pt x="10214" y="46578"/>
                      <a:pt x="28396" y="28396"/>
                    </a:cubicBezTo>
                    <a:cubicBezTo>
                      <a:pt x="46578" y="10214"/>
                      <a:pt x="71238" y="0"/>
                      <a:pt x="96951" y="0"/>
                    </a:cubicBezTo>
                    <a:close/>
                  </a:path>
                </a:pathLst>
              </a:custGeom>
              <a:solidFill>
                <a:srgbClr val="7C7AAC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072601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8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249610" y="1139388"/>
              <a:ext cx="2930823" cy="17883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spcBef>
                  <a:spcPct val="0"/>
                </a:spcBef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BACKEND</a:t>
              </a:r>
            </a:p>
            <a:p>
              <a:pPr marL="561166" lvl="1" indent="-280583" algn="l">
                <a:lnSpc>
                  <a:spcPts val="3638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Python</a:t>
              </a:r>
            </a:p>
            <a:p>
              <a:pPr marL="561166" lvl="1" indent="-280583" algn="l">
                <a:lnSpc>
                  <a:spcPts val="3638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Flask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19827" y="3406160"/>
            <a:ext cx="3729524" cy="3086100"/>
            <a:chOff x="0" y="0"/>
            <a:chExt cx="1127782" cy="93321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27782" cy="933215"/>
            </a:xfrm>
            <a:custGeom>
              <a:avLst/>
              <a:gdLst/>
              <a:ahLst/>
              <a:cxnLst/>
              <a:rect l="l" t="t" r="r" b="b"/>
              <a:pathLst>
                <a:path w="1127782" h="933215">
                  <a:moveTo>
                    <a:pt x="105868" y="0"/>
                  </a:moveTo>
                  <a:lnTo>
                    <a:pt x="1021914" y="0"/>
                  </a:lnTo>
                  <a:cubicBezTo>
                    <a:pt x="1049992" y="0"/>
                    <a:pt x="1076920" y="11154"/>
                    <a:pt x="1096774" y="31008"/>
                  </a:cubicBezTo>
                  <a:cubicBezTo>
                    <a:pt x="1116628" y="50862"/>
                    <a:pt x="1127782" y="77790"/>
                    <a:pt x="1127782" y="105868"/>
                  </a:cubicBezTo>
                  <a:lnTo>
                    <a:pt x="1127782" y="827347"/>
                  </a:lnTo>
                  <a:cubicBezTo>
                    <a:pt x="1127782" y="885816"/>
                    <a:pt x="1080383" y="933215"/>
                    <a:pt x="1021914" y="933215"/>
                  </a:cubicBezTo>
                  <a:lnTo>
                    <a:pt x="105868" y="933215"/>
                  </a:lnTo>
                  <a:cubicBezTo>
                    <a:pt x="47399" y="933215"/>
                    <a:pt x="0" y="885816"/>
                    <a:pt x="0" y="827347"/>
                  </a:cubicBezTo>
                  <a:lnTo>
                    <a:pt x="0" y="105868"/>
                  </a:lnTo>
                  <a:cubicBezTo>
                    <a:pt x="0" y="47399"/>
                    <a:pt x="47399" y="0"/>
                    <a:pt x="105868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127782" cy="980840"/>
            </a:xfrm>
            <a:prstGeom prst="rect">
              <a:avLst/>
            </a:prstGeom>
          </p:spPr>
          <p:txBody>
            <a:bodyPr lIns="44245" tIns="44245" rIns="44245" bIns="44245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94921" y="6843178"/>
            <a:ext cx="3994760" cy="2988934"/>
            <a:chOff x="0" y="0"/>
            <a:chExt cx="1054264" cy="7888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4264" cy="788815"/>
            </a:xfrm>
            <a:custGeom>
              <a:avLst/>
              <a:gdLst/>
              <a:ahLst/>
              <a:cxnLst/>
              <a:rect l="l" t="t" r="r" b="b"/>
              <a:pathLst>
                <a:path w="1054264" h="788815">
                  <a:moveTo>
                    <a:pt x="98839" y="0"/>
                  </a:moveTo>
                  <a:lnTo>
                    <a:pt x="955425" y="0"/>
                  </a:lnTo>
                  <a:cubicBezTo>
                    <a:pt x="1010012" y="0"/>
                    <a:pt x="1054264" y="44252"/>
                    <a:pt x="1054264" y="98839"/>
                  </a:cubicBezTo>
                  <a:lnTo>
                    <a:pt x="1054264" y="689976"/>
                  </a:lnTo>
                  <a:cubicBezTo>
                    <a:pt x="1054264" y="716190"/>
                    <a:pt x="1043851" y="741330"/>
                    <a:pt x="1025315" y="759865"/>
                  </a:cubicBezTo>
                  <a:cubicBezTo>
                    <a:pt x="1006779" y="778401"/>
                    <a:pt x="981639" y="788815"/>
                    <a:pt x="955425" y="788815"/>
                  </a:cubicBezTo>
                  <a:lnTo>
                    <a:pt x="98839" y="788815"/>
                  </a:lnTo>
                  <a:cubicBezTo>
                    <a:pt x="72625" y="788815"/>
                    <a:pt x="47485" y="778401"/>
                    <a:pt x="28949" y="759865"/>
                  </a:cubicBezTo>
                  <a:cubicBezTo>
                    <a:pt x="10413" y="741330"/>
                    <a:pt x="0" y="716190"/>
                    <a:pt x="0" y="689976"/>
                  </a:cubicBezTo>
                  <a:lnTo>
                    <a:pt x="0" y="98839"/>
                  </a:lnTo>
                  <a:cubicBezTo>
                    <a:pt x="0" y="72625"/>
                    <a:pt x="10413" y="47485"/>
                    <a:pt x="28949" y="28949"/>
                  </a:cubicBezTo>
                  <a:cubicBezTo>
                    <a:pt x="47485" y="10413"/>
                    <a:pt x="72625" y="0"/>
                    <a:pt x="98839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54264" cy="836440"/>
            </a:xfrm>
            <a:prstGeom prst="rect">
              <a:avLst/>
            </a:prstGeom>
          </p:spPr>
          <p:txBody>
            <a:bodyPr lIns="50697" tIns="50697" rIns="50697" bIns="50697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733871" y="7025660"/>
            <a:ext cx="4167383" cy="234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APIS / TOOLS</a:t>
            </a:r>
          </a:p>
          <a:p>
            <a:pPr marL="582282" lvl="1" indent="-291141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OPenCV </a:t>
            </a:r>
          </a:p>
          <a:p>
            <a:pPr marL="582282" lvl="1" indent="-291141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MediaPipe </a:t>
            </a:r>
          </a:p>
          <a:p>
            <a:pPr marL="582282" lvl="1" indent="-291141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YOLOv8 / DeepFace </a:t>
            </a:r>
          </a:p>
          <a:p>
            <a:pPr marL="582282" lvl="1" indent="-291141" algn="l">
              <a:lnSpc>
                <a:spcPts val="3775"/>
              </a:lnSpc>
              <a:buFont typeface="Arial"/>
              <a:buChar char="•"/>
            </a:pPr>
            <a:r>
              <a:rPr lang="en-US" sz="26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PyTorch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892301" y="3406160"/>
            <a:ext cx="4017904" cy="3086100"/>
            <a:chOff x="0" y="0"/>
            <a:chExt cx="993612" cy="7631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3612" cy="763180"/>
            </a:xfrm>
            <a:custGeom>
              <a:avLst/>
              <a:gdLst/>
              <a:ahLst/>
              <a:cxnLst/>
              <a:rect l="l" t="t" r="r" b="b"/>
              <a:pathLst>
                <a:path w="993612" h="763180">
                  <a:moveTo>
                    <a:pt x="98270" y="0"/>
                  </a:moveTo>
                  <a:lnTo>
                    <a:pt x="895342" y="0"/>
                  </a:lnTo>
                  <a:cubicBezTo>
                    <a:pt x="949615" y="0"/>
                    <a:pt x="993612" y="43997"/>
                    <a:pt x="993612" y="98270"/>
                  </a:cubicBezTo>
                  <a:lnTo>
                    <a:pt x="993612" y="664911"/>
                  </a:lnTo>
                  <a:cubicBezTo>
                    <a:pt x="993612" y="719184"/>
                    <a:pt x="949615" y="763180"/>
                    <a:pt x="895342" y="763180"/>
                  </a:cubicBezTo>
                  <a:lnTo>
                    <a:pt x="98270" y="763180"/>
                  </a:lnTo>
                  <a:cubicBezTo>
                    <a:pt x="43997" y="763180"/>
                    <a:pt x="0" y="719184"/>
                    <a:pt x="0" y="664911"/>
                  </a:cubicBezTo>
                  <a:lnTo>
                    <a:pt x="0" y="98270"/>
                  </a:lnTo>
                  <a:cubicBezTo>
                    <a:pt x="0" y="43997"/>
                    <a:pt x="43997" y="0"/>
                    <a:pt x="98270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93612" cy="810805"/>
            </a:xfrm>
            <a:prstGeom prst="rect">
              <a:avLst/>
            </a:prstGeom>
          </p:spPr>
          <p:txBody>
            <a:bodyPr lIns="54103" tIns="54103" rIns="54103" bIns="54103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164478" y="4034843"/>
            <a:ext cx="3483971" cy="1773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5"/>
              </a:lnSpc>
              <a:spcBef>
                <a:spcPct val="0"/>
              </a:spcBef>
            </a:pPr>
            <a:r>
              <a:rPr lang="en-US" sz="266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ENGINE</a:t>
            </a:r>
          </a:p>
          <a:p>
            <a:pPr marL="532882" lvl="1" indent="-266441" algn="just">
              <a:lnSpc>
                <a:spcPts val="3455"/>
              </a:lnSpc>
              <a:spcBef>
                <a:spcPct val="0"/>
              </a:spcBef>
              <a:buFont typeface="Arial"/>
              <a:buChar char="•"/>
            </a:pPr>
            <a:r>
              <a:rPr lang="en-US" sz="24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HYBRID AI SYSTEM</a:t>
            </a:r>
          </a:p>
          <a:p>
            <a:pPr marL="532882" lvl="1" indent="-266441" algn="just">
              <a:lnSpc>
                <a:spcPts val="3455"/>
              </a:lnSpc>
              <a:buFont typeface="Arial"/>
              <a:buChar char="•"/>
            </a:pPr>
            <a:r>
              <a:rPr lang="en-US" sz="246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Computer Vision + Deep Learning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13683407" y="609759"/>
            <a:ext cx="1965041" cy="1965041"/>
          </a:xfrm>
          <a:custGeom>
            <a:avLst/>
            <a:gdLst/>
            <a:ahLst/>
            <a:cxnLst/>
            <a:rect l="l" t="t" r="r" b="b"/>
            <a:pathLst>
              <a:path w="1965041" h="1965041">
                <a:moveTo>
                  <a:pt x="0" y="0"/>
                </a:moveTo>
                <a:lnTo>
                  <a:pt x="1965042" y="0"/>
                </a:lnTo>
                <a:lnTo>
                  <a:pt x="1965042" y="1965041"/>
                </a:lnTo>
                <a:lnTo>
                  <a:pt x="0" y="1965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220010" y="4424681"/>
            <a:ext cx="2129158" cy="92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9"/>
              </a:lnSpc>
              <a:spcBef>
                <a:spcPct val="0"/>
              </a:spcBef>
            </a:pPr>
            <a:r>
              <a:rPr lang="en-US" sz="266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</a:t>
            </a:r>
          </a:p>
          <a:p>
            <a:pPr marL="575115" lvl="1" indent="-287558" algn="l">
              <a:lnSpc>
                <a:spcPts val="3729"/>
              </a:lnSpc>
              <a:buFont typeface="Arial"/>
              <a:buChar char="•"/>
            </a:pPr>
            <a:r>
              <a:rPr lang="en-US" sz="26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SQLite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5146" y="902509"/>
            <a:ext cx="17662854" cy="1924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994"/>
              </a:lnSpc>
            </a:pPr>
            <a:r>
              <a:rPr lang="en-US" sz="13787" b="1" spc="2205">
                <a:solidFill>
                  <a:srgbClr val="041226">
                    <a:alpha val="1961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Technology Stack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57611" y="1214566"/>
            <a:ext cx="9053956" cy="136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57"/>
              </a:lnSpc>
            </a:pPr>
            <a:r>
              <a:rPr lang="en-US" sz="8639" b="1" spc="69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Technology Stack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D3AC096-2DF0-E711-0579-DC2DB7B92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3642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444893" y="529819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759822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2" y="0"/>
                </a:lnTo>
                <a:lnTo>
                  <a:pt x="759822" y="75015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87790" y="8891519"/>
            <a:ext cx="371510" cy="366781"/>
          </a:xfrm>
          <a:custGeom>
            <a:avLst/>
            <a:gdLst/>
            <a:ahLst/>
            <a:cxnLst/>
            <a:rect l="l" t="t" r="r" b="b"/>
            <a:pathLst>
              <a:path w="371510" h="366781">
                <a:moveTo>
                  <a:pt x="0" y="0"/>
                </a:moveTo>
                <a:lnTo>
                  <a:pt x="371510" y="0"/>
                </a:lnTo>
                <a:lnTo>
                  <a:pt x="37151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854234" y="3342750"/>
            <a:ext cx="4273845" cy="3086100"/>
            <a:chOff x="0" y="0"/>
            <a:chExt cx="1125622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5622" cy="812800"/>
            </a:xfrm>
            <a:custGeom>
              <a:avLst/>
              <a:gdLst/>
              <a:ahLst/>
              <a:cxnLst/>
              <a:rect l="l" t="t" r="r" b="b"/>
              <a:pathLst>
                <a:path w="1125622" h="812800">
                  <a:moveTo>
                    <a:pt x="92385" y="0"/>
                  </a:moveTo>
                  <a:lnTo>
                    <a:pt x="1033237" y="0"/>
                  </a:lnTo>
                  <a:cubicBezTo>
                    <a:pt x="1084260" y="0"/>
                    <a:pt x="1125622" y="41362"/>
                    <a:pt x="1125622" y="92385"/>
                  </a:cubicBezTo>
                  <a:lnTo>
                    <a:pt x="1125622" y="720415"/>
                  </a:lnTo>
                  <a:cubicBezTo>
                    <a:pt x="1125622" y="771438"/>
                    <a:pt x="1084260" y="812800"/>
                    <a:pt x="1033237" y="812800"/>
                  </a:cubicBezTo>
                  <a:lnTo>
                    <a:pt x="92385" y="812800"/>
                  </a:lnTo>
                  <a:cubicBezTo>
                    <a:pt x="41362" y="812800"/>
                    <a:pt x="0" y="771438"/>
                    <a:pt x="0" y="720415"/>
                  </a:cubicBezTo>
                  <a:lnTo>
                    <a:pt x="0" y="92385"/>
                  </a:lnTo>
                  <a:cubicBezTo>
                    <a:pt x="0" y="41362"/>
                    <a:pt x="41362" y="0"/>
                    <a:pt x="92385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2562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CORE IDEA</a:t>
              </a: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22781" y="472669"/>
            <a:ext cx="16230600" cy="249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53"/>
              </a:lnSpc>
            </a:pPr>
            <a:r>
              <a:rPr lang="en-US" sz="8540" b="1" spc="68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 Integration of Exam Platform &amp; AI Proctoring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892" y="433808"/>
            <a:ext cx="18091108" cy="1843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38"/>
              </a:lnSpc>
            </a:pPr>
            <a:r>
              <a:rPr lang="en-US" sz="7400" b="1" spc="1184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 Integration of Exam Platform&amp;   . AI Proctoring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9490" y="4032272"/>
            <a:ext cx="4408589" cy="2396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8734" lvl="1" indent="-249367" algn="l">
              <a:lnSpc>
                <a:spcPts val="3765"/>
              </a:lnSpc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MCQ Exam System + AI Monitoring</a:t>
            </a:r>
          </a:p>
          <a:p>
            <a:pPr marL="490094" lvl="1" indent="-245047" algn="l">
              <a:lnSpc>
                <a:spcPts val="3700"/>
              </a:lnSpc>
              <a:buFont typeface="Arial"/>
              <a:buChar char="•"/>
            </a:pPr>
            <a:r>
              <a:rPr lang="en-US" sz="22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Runs as a single integrated system</a:t>
            </a:r>
          </a:p>
          <a:p>
            <a:pPr algn="l">
              <a:lnSpc>
                <a:spcPts val="4417"/>
              </a:lnSpc>
            </a:pPr>
            <a:endParaRPr lang="en-US" sz="227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74450" y="3342750"/>
            <a:ext cx="4273845" cy="3086100"/>
            <a:chOff x="0" y="0"/>
            <a:chExt cx="1125622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5622" cy="812800"/>
            </a:xfrm>
            <a:custGeom>
              <a:avLst/>
              <a:gdLst/>
              <a:ahLst/>
              <a:cxnLst/>
              <a:rect l="l" t="t" r="r" b="b"/>
              <a:pathLst>
                <a:path w="1125622" h="812800">
                  <a:moveTo>
                    <a:pt x="92385" y="0"/>
                  </a:moveTo>
                  <a:lnTo>
                    <a:pt x="1033237" y="0"/>
                  </a:lnTo>
                  <a:cubicBezTo>
                    <a:pt x="1084260" y="0"/>
                    <a:pt x="1125622" y="41362"/>
                    <a:pt x="1125622" y="92385"/>
                  </a:cubicBezTo>
                  <a:lnTo>
                    <a:pt x="1125622" y="720415"/>
                  </a:lnTo>
                  <a:cubicBezTo>
                    <a:pt x="1125622" y="771438"/>
                    <a:pt x="1084260" y="812800"/>
                    <a:pt x="1033237" y="812800"/>
                  </a:cubicBezTo>
                  <a:lnTo>
                    <a:pt x="92385" y="812800"/>
                  </a:lnTo>
                  <a:cubicBezTo>
                    <a:pt x="41362" y="812800"/>
                    <a:pt x="0" y="771438"/>
                    <a:pt x="0" y="720415"/>
                  </a:cubicBezTo>
                  <a:lnTo>
                    <a:pt x="0" y="92385"/>
                  </a:lnTo>
                  <a:cubicBezTo>
                    <a:pt x="0" y="41362"/>
                    <a:pt x="41362" y="0"/>
                    <a:pt x="92385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12562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WORKFLOW</a:t>
              </a: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939706" y="4032272"/>
            <a:ext cx="4408589" cy="239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8734" lvl="1" indent="-249367" algn="l">
              <a:lnSpc>
                <a:spcPts val="3765"/>
              </a:lnSpc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Exam starts → Webcam + AI activated </a:t>
            </a:r>
          </a:p>
          <a:p>
            <a:pPr marL="498734" lvl="1" indent="-249367" algn="l">
              <a:lnSpc>
                <a:spcPts val="3765"/>
              </a:lnSpc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monitors behavior in background</a:t>
            </a:r>
          </a:p>
          <a:p>
            <a:pPr algn="l">
              <a:lnSpc>
                <a:spcPts val="4254"/>
              </a:lnSpc>
            </a:pPr>
            <a:endParaRPr lang="en-US" sz="231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2292663" y="3342750"/>
            <a:ext cx="4273845" cy="3086100"/>
            <a:chOff x="0" y="0"/>
            <a:chExt cx="1125622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25622" cy="812800"/>
            </a:xfrm>
            <a:custGeom>
              <a:avLst/>
              <a:gdLst/>
              <a:ahLst/>
              <a:cxnLst/>
              <a:rect l="l" t="t" r="r" b="b"/>
              <a:pathLst>
                <a:path w="1125622" h="812800">
                  <a:moveTo>
                    <a:pt x="92385" y="0"/>
                  </a:moveTo>
                  <a:lnTo>
                    <a:pt x="1033237" y="0"/>
                  </a:lnTo>
                  <a:cubicBezTo>
                    <a:pt x="1084260" y="0"/>
                    <a:pt x="1125622" y="41362"/>
                    <a:pt x="1125622" y="92385"/>
                  </a:cubicBezTo>
                  <a:lnTo>
                    <a:pt x="1125622" y="720415"/>
                  </a:lnTo>
                  <a:cubicBezTo>
                    <a:pt x="1125622" y="771438"/>
                    <a:pt x="1084260" y="812800"/>
                    <a:pt x="1033237" y="812800"/>
                  </a:cubicBezTo>
                  <a:lnTo>
                    <a:pt x="92385" y="812800"/>
                  </a:lnTo>
                  <a:cubicBezTo>
                    <a:pt x="41362" y="812800"/>
                    <a:pt x="0" y="771438"/>
                    <a:pt x="0" y="720415"/>
                  </a:cubicBezTo>
                  <a:lnTo>
                    <a:pt x="0" y="92385"/>
                  </a:lnTo>
                  <a:cubicBezTo>
                    <a:pt x="0" y="41362"/>
                    <a:pt x="41362" y="0"/>
                    <a:pt x="92385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2562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8"/>
                </a:lnSpc>
              </a:pPr>
              <a:r>
                <a:rPr lang="en-US" sz="23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PARALLEL PROCESSING</a:t>
              </a:r>
            </a:p>
            <a:p>
              <a:pPr algn="ctr">
                <a:lnSpc>
                  <a:spcPts val="3638"/>
                </a:lnSpc>
              </a:pPr>
              <a:endPara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292663" y="4051322"/>
            <a:ext cx="4403677" cy="260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8459" lvl="1" indent="-224230" algn="l">
              <a:lnSpc>
                <a:spcPts val="3385"/>
              </a:lnSpc>
              <a:buFont typeface="Arial"/>
              <a:buChar char="•"/>
            </a:pPr>
            <a:r>
              <a:rPr lang="en-US" sz="207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 Module:</a:t>
            </a:r>
            <a:r>
              <a:rPr lang="en-US" sz="20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3385"/>
              </a:lnSpc>
            </a:pPr>
            <a:r>
              <a:rPr lang="en-US" sz="20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Questions, answers, timer</a:t>
            </a:r>
          </a:p>
          <a:p>
            <a:pPr marL="448459" lvl="1" indent="-224230" algn="l">
              <a:lnSpc>
                <a:spcPts val="3385"/>
              </a:lnSpc>
              <a:buFont typeface="Arial"/>
              <a:buChar char="•"/>
            </a:pPr>
            <a:r>
              <a:rPr lang="en-US" sz="207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Module: </a:t>
            </a:r>
          </a:p>
          <a:p>
            <a:pPr algn="l">
              <a:lnSpc>
                <a:spcPts val="3385"/>
              </a:lnSpc>
            </a:pPr>
            <a:r>
              <a:rPr lang="en-US" sz="207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</a:t>
            </a:r>
            <a:r>
              <a:rPr lang="en-US" sz="20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Face, head pose, phone             .     detection</a:t>
            </a:r>
          </a:p>
          <a:p>
            <a:pPr algn="l">
              <a:lnSpc>
                <a:spcPts val="4057"/>
              </a:lnSpc>
            </a:pPr>
            <a:endParaRPr lang="en-US" sz="2077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5004899" y="6800325"/>
            <a:ext cx="4273845" cy="3086100"/>
            <a:chOff x="0" y="0"/>
            <a:chExt cx="1125622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25622" cy="812800"/>
            </a:xfrm>
            <a:custGeom>
              <a:avLst/>
              <a:gdLst/>
              <a:ahLst/>
              <a:cxnLst/>
              <a:rect l="l" t="t" r="r" b="b"/>
              <a:pathLst>
                <a:path w="1125622" h="812800">
                  <a:moveTo>
                    <a:pt x="92385" y="0"/>
                  </a:moveTo>
                  <a:lnTo>
                    <a:pt x="1033237" y="0"/>
                  </a:lnTo>
                  <a:cubicBezTo>
                    <a:pt x="1084260" y="0"/>
                    <a:pt x="1125622" y="41362"/>
                    <a:pt x="1125622" y="92385"/>
                  </a:cubicBezTo>
                  <a:lnTo>
                    <a:pt x="1125622" y="720415"/>
                  </a:lnTo>
                  <a:cubicBezTo>
                    <a:pt x="1125622" y="771438"/>
                    <a:pt x="1084260" y="812800"/>
                    <a:pt x="1033237" y="812800"/>
                  </a:cubicBezTo>
                  <a:lnTo>
                    <a:pt x="92385" y="812800"/>
                  </a:lnTo>
                  <a:cubicBezTo>
                    <a:pt x="41362" y="812800"/>
                    <a:pt x="0" y="771438"/>
                    <a:pt x="0" y="720415"/>
                  </a:cubicBezTo>
                  <a:lnTo>
                    <a:pt x="0" y="92385"/>
                  </a:lnTo>
                  <a:cubicBezTo>
                    <a:pt x="0" y="41362"/>
                    <a:pt x="41362" y="0"/>
                    <a:pt x="92385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12562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MONITORING</a:t>
              </a: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870155" y="7489847"/>
            <a:ext cx="4408589" cy="241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8734" lvl="1" indent="-249367" algn="l">
              <a:lnSpc>
                <a:spcPts val="3765"/>
              </a:lnSpc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Real-time analysis of each frame</a:t>
            </a:r>
          </a:p>
          <a:p>
            <a:pPr marL="498734" lvl="1" indent="-249367" algn="l">
              <a:lnSpc>
                <a:spcPts val="3765"/>
              </a:lnSpc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Suspicion score updated continuously</a:t>
            </a:r>
          </a:p>
          <a:p>
            <a:pPr algn="l">
              <a:lnSpc>
                <a:spcPts val="4417"/>
              </a:lnSpc>
            </a:pPr>
            <a:endParaRPr lang="en-US" sz="231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0155741" y="6800325"/>
            <a:ext cx="4273845" cy="3086100"/>
            <a:chOff x="0" y="0"/>
            <a:chExt cx="1125622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25622" cy="812800"/>
            </a:xfrm>
            <a:custGeom>
              <a:avLst/>
              <a:gdLst/>
              <a:ahLst/>
              <a:cxnLst/>
              <a:rect l="l" t="t" r="r" b="b"/>
              <a:pathLst>
                <a:path w="1125622" h="812800">
                  <a:moveTo>
                    <a:pt x="92385" y="0"/>
                  </a:moveTo>
                  <a:lnTo>
                    <a:pt x="1033237" y="0"/>
                  </a:lnTo>
                  <a:cubicBezTo>
                    <a:pt x="1084260" y="0"/>
                    <a:pt x="1125622" y="41362"/>
                    <a:pt x="1125622" y="92385"/>
                  </a:cubicBezTo>
                  <a:lnTo>
                    <a:pt x="1125622" y="720415"/>
                  </a:lnTo>
                  <a:cubicBezTo>
                    <a:pt x="1125622" y="771438"/>
                    <a:pt x="1084260" y="812800"/>
                    <a:pt x="1033237" y="812800"/>
                  </a:cubicBezTo>
                  <a:lnTo>
                    <a:pt x="92385" y="812800"/>
                  </a:lnTo>
                  <a:cubicBezTo>
                    <a:pt x="41362" y="812800"/>
                    <a:pt x="0" y="771438"/>
                    <a:pt x="0" y="720415"/>
                  </a:cubicBezTo>
                  <a:lnTo>
                    <a:pt x="0" y="92385"/>
                  </a:lnTo>
                  <a:cubicBezTo>
                    <a:pt x="0" y="41362"/>
                    <a:pt x="41362" y="0"/>
                    <a:pt x="92385" y="0"/>
                  </a:cubicBez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12562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r>
                <a:rPr lang="en-US" sz="25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OUTPUT</a:t>
              </a: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3638"/>
                </a:lnSpc>
              </a:pPr>
              <a:endParaRPr lang="en-US" sz="25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020997" y="7489847"/>
            <a:ext cx="4408589" cy="201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0323" lvl="1" indent="-260162" algn="l">
              <a:lnSpc>
                <a:spcPts val="3928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Warning alerts </a:t>
            </a:r>
          </a:p>
          <a:p>
            <a:pPr marL="520323" lvl="1" indent="-260162" algn="l">
              <a:lnSpc>
                <a:spcPts val="3928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Final report with behavior logs</a:t>
            </a:r>
          </a:p>
          <a:p>
            <a:pPr algn="l">
              <a:lnSpc>
                <a:spcPts val="4580"/>
              </a:lnSpc>
            </a:pPr>
            <a:endParaRPr lang="en-US" sz="241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949B704-8AD6-75B5-6FB7-F8F5C4C46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" y="4045"/>
            <a:ext cx="18281026" cy="102789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8700" y="8489021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759822" y="0"/>
                </a:moveTo>
                <a:lnTo>
                  <a:pt x="0" y="0"/>
                </a:lnTo>
                <a:lnTo>
                  <a:pt x="0" y="750152"/>
                </a:lnTo>
                <a:lnTo>
                  <a:pt x="759822" y="750152"/>
                </a:lnTo>
                <a:lnTo>
                  <a:pt x="7598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6887790" y="1028700"/>
            <a:ext cx="371510" cy="366781"/>
          </a:xfrm>
          <a:custGeom>
            <a:avLst/>
            <a:gdLst/>
            <a:ahLst/>
            <a:cxnLst/>
            <a:rect l="l" t="t" r="r" b="b"/>
            <a:pathLst>
              <a:path w="371510" h="366781">
                <a:moveTo>
                  <a:pt x="0" y="366781"/>
                </a:moveTo>
                <a:lnTo>
                  <a:pt x="371510" y="366781"/>
                </a:lnTo>
                <a:lnTo>
                  <a:pt x="371510" y="0"/>
                </a:lnTo>
                <a:lnTo>
                  <a:pt x="0" y="0"/>
                </a:lnTo>
                <a:lnTo>
                  <a:pt x="0" y="36678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29129" y="3428470"/>
            <a:ext cx="11429741" cy="285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83"/>
              </a:lnSpc>
            </a:pPr>
            <a:r>
              <a:rPr lang="en-US" sz="15059" b="1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4472356" y="3509240"/>
            <a:ext cx="27091792" cy="304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35"/>
              </a:lnSpc>
            </a:pPr>
            <a:r>
              <a:rPr lang="en-US" sz="18603" b="1" spc="2641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THANK YOU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6EC1B-275D-16F1-0011-917E370FC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609</Words>
  <Application>Microsoft Office PowerPoint</Application>
  <PresentationFormat>Custom</PresentationFormat>
  <Paragraphs>233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Montserrat Bold</vt:lpstr>
      <vt:lpstr>Futura Bold</vt:lpstr>
      <vt:lpstr>Futura</vt:lpstr>
      <vt:lpstr>Arial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Recovery Assistant: AI-Powered Personalized Physiotherapy System</dc:title>
  <cp:lastModifiedBy>Amala Selwin</cp:lastModifiedBy>
  <cp:revision>2</cp:revision>
  <dcterms:created xsi:type="dcterms:W3CDTF">2006-08-16T00:00:00Z</dcterms:created>
  <dcterms:modified xsi:type="dcterms:W3CDTF">2026-04-07T03:53:05Z</dcterms:modified>
  <dc:identifier>DAHF4AAtdfk</dc:identifier>
</cp:coreProperties>
</file>